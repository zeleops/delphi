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111858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First Button Click to Your First Application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02920" y="1847088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17223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470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2-DAY BEGINNER WORKSHOP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514600"/>
            <a:ext cx="1901595" cy="3886200"/>
          </a:xfrm>
          <a:prstGeom prst="roundRect">
            <a:avLst>
              <a:gd name="adj" fmla="val 3366"/>
            </a:avLst>
          </a:prstGeom>
          <a:solidFill>
            <a:srgbClr val="0D1526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2648" y="2606040"/>
            <a:ext cx="16821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PALETTE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2648" y="28986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880360"/>
            <a:ext cx="142610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TButton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" y="3209544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191256"/>
            <a:ext cx="142610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TLabel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" y="35204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502152"/>
            <a:ext cx="142610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TEdit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" y="3831336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813048"/>
            <a:ext cx="142610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TMemo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" y="4142232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123944"/>
            <a:ext cx="142610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TPanel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41675" y="2514600"/>
            <a:ext cx="6325335" cy="3886200"/>
          </a:xfrm>
          <a:prstGeom prst="roundRect">
            <a:avLst>
              <a:gd name="adj" fmla="val 1647"/>
            </a:avLst>
          </a:prstGeom>
          <a:solidFill>
            <a:srgbClr val="0D1526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41675" y="2514600"/>
            <a:ext cx="6325335" cy="347472"/>
          </a:xfrm>
          <a:prstGeom prst="roundRect">
            <a:avLst>
              <a:gd name="adj" fmla="val 18421"/>
            </a:avLst>
          </a:prstGeom>
          <a:solidFill>
            <a:srgbClr val="17223D"/>
          </a:solidFill>
          <a:ln/>
        </p:spPr>
      </p:sp>
      <p:sp>
        <p:nvSpPr>
          <p:cNvPr id="21" name="Shape 19"/>
          <p:cNvSpPr/>
          <p:nvPr/>
        </p:nvSpPr>
        <p:spPr>
          <a:xfrm>
            <a:off x="2541675" y="2688336"/>
            <a:ext cx="6325335" cy="173736"/>
          </a:xfrm>
          <a:prstGeom prst="rect">
            <a:avLst/>
          </a:prstGeom>
          <a:solidFill>
            <a:srgbClr val="17223D"/>
          </a:solidFill>
          <a:ln/>
        </p:spPr>
      </p:sp>
      <p:sp>
        <p:nvSpPr>
          <p:cNvPr id="22" name="Shape 20"/>
          <p:cNvSpPr/>
          <p:nvPr/>
        </p:nvSpPr>
        <p:spPr>
          <a:xfrm>
            <a:off x="2706267" y="2633472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3" name="Shape 21"/>
          <p:cNvSpPr/>
          <p:nvPr/>
        </p:nvSpPr>
        <p:spPr>
          <a:xfrm>
            <a:off x="2889147" y="2633472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Shape 22"/>
          <p:cNvSpPr/>
          <p:nvPr/>
        </p:nvSpPr>
        <p:spPr>
          <a:xfrm>
            <a:off x="3072027" y="2633472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5" name="Text 23"/>
          <p:cNvSpPr/>
          <p:nvPr/>
        </p:nvSpPr>
        <p:spPr>
          <a:xfrm>
            <a:off x="3364635" y="2551176"/>
            <a:ext cx="5319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Form1 (Unit1.pas) — Delphi IDE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41675" y="2862072"/>
            <a:ext cx="6325335" cy="3538728"/>
          </a:xfrm>
          <a:prstGeom prst="rect">
            <a:avLst/>
          </a:prstGeom>
          <a:solidFill>
            <a:srgbClr val="E9EDF4"/>
          </a:solidFill>
          <a:ln/>
        </p:spPr>
      </p:sp>
      <p:sp>
        <p:nvSpPr>
          <p:cNvPr id="27" name="Text 25"/>
          <p:cNvSpPr/>
          <p:nvPr/>
        </p:nvSpPr>
        <p:spPr>
          <a:xfrm>
            <a:off x="2815995" y="31181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913275" y="308152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8C99A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15995" y="3639312"/>
            <a:ext cx="1554480" cy="402336"/>
          </a:xfrm>
          <a:prstGeom prst="roundRect">
            <a:avLst>
              <a:gd name="adj" fmla="val 11364"/>
            </a:avLst>
          </a:prstGeom>
          <a:solidFill>
            <a:srgbClr val="E4E9F1"/>
          </a:solidFill>
          <a:ln w="12700">
            <a:solidFill>
              <a:srgbClr val="8C99A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15995" y="363931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Hello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53355" y="37033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Delphi!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815995" y="4233672"/>
            <a:ext cx="3200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9A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07435" y="4325112"/>
            <a:ext cx="2743200" cy="45720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34" name="Shape 32"/>
          <p:cNvSpPr/>
          <p:nvPr/>
        </p:nvSpPr>
        <p:spPr>
          <a:xfrm>
            <a:off x="2907435" y="4471416"/>
            <a:ext cx="2377440" cy="45720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35" name="Shape 33"/>
          <p:cNvSpPr/>
          <p:nvPr/>
        </p:nvSpPr>
        <p:spPr>
          <a:xfrm>
            <a:off x="2907435" y="4617720"/>
            <a:ext cx="2011680" cy="45720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36" name="Shape 34"/>
          <p:cNvSpPr/>
          <p:nvPr/>
        </p:nvSpPr>
        <p:spPr>
          <a:xfrm>
            <a:off x="9141330" y="2514600"/>
            <a:ext cx="2684605" cy="3886200"/>
          </a:xfrm>
          <a:prstGeom prst="roundRect">
            <a:avLst>
              <a:gd name="adj" fmla="val 2384"/>
            </a:avLst>
          </a:prstGeom>
          <a:solidFill>
            <a:srgbClr val="0D1526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251058" y="2606040"/>
            <a:ext cx="246514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INSPECTOR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251058" y="2916936"/>
            <a:ext cx="11339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385027" y="2916936"/>
            <a:ext cx="13311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Button1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251058" y="3182112"/>
            <a:ext cx="11339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Caption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0385027" y="3182112"/>
            <a:ext cx="13311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Say Hello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251058" y="3447288"/>
            <a:ext cx="11339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0385027" y="3447288"/>
            <a:ext cx="13311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251058" y="3712464"/>
            <a:ext cx="11339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385027" y="3712464"/>
            <a:ext cx="13311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251058" y="3977640"/>
            <a:ext cx="11339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385027" y="3977640"/>
            <a:ext cx="13311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9251058" y="4242816"/>
            <a:ext cx="11339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0385027" y="4242816"/>
            <a:ext cx="13311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9251058" y="4507992"/>
            <a:ext cx="11339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Visible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0385027" y="4507992"/>
            <a:ext cx="13311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9251058" y="4773168"/>
            <a:ext cx="11339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Enabled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0385027" y="4773168"/>
            <a:ext cx="13311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WELCOME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40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Delphi?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377440" cy="822960"/>
          </a:xfrm>
          <a:prstGeom prst="roundRect">
            <a:avLst>
              <a:gd name="adj" fmla="val 50000"/>
            </a:avLst>
          </a:prstGeom>
          <a:solidFill>
            <a:srgbClr val="17223D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288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017520" y="182880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703320" y="1828800"/>
            <a:ext cx="2448458" cy="822960"/>
          </a:xfrm>
          <a:prstGeom prst="roundRect">
            <a:avLst>
              <a:gd name="adj" fmla="val 10000"/>
            </a:avLst>
          </a:prstGeom>
          <a:solidFill>
            <a:srgbClr val="17223D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03320" y="1938528"/>
            <a:ext cx="24484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94760" y="2286000"/>
            <a:ext cx="22655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Code · Debug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51778" y="1828800"/>
            <a:ext cx="320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471818" y="1828800"/>
            <a:ext cx="2448458" cy="822960"/>
          </a:xfrm>
          <a:prstGeom prst="roundRect">
            <a:avLst>
              <a:gd name="adj" fmla="val 10000"/>
            </a:avLst>
          </a:prstGeom>
          <a:solidFill>
            <a:srgbClr val="17223D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71818" y="1938528"/>
            <a:ext cx="24484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PASCAL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63258" y="2286000"/>
            <a:ext cx="22655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20277" y="1828800"/>
            <a:ext cx="320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240317" y="1828800"/>
            <a:ext cx="2448458" cy="822960"/>
          </a:xfrm>
          <a:prstGeom prst="roundRect">
            <a:avLst>
              <a:gd name="adj" fmla="val 10000"/>
            </a:avLst>
          </a:prstGeom>
          <a:solidFill>
            <a:srgbClr val="17223D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40317" y="1938528"/>
            <a:ext cx="24484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31757" y="2286000"/>
            <a:ext cx="22655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components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108960"/>
            <a:ext cx="3484778" cy="2468880"/>
          </a:xfrm>
          <a:prstGeom prst="roundRect">
            <a:avLst>
              <a:gd name="adj" fmla="val 3333"/>
            </a:avLst>
          </a:prstGeom>
          <a:solidFill>
            <a:srgbClr val="121B31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108960"/>
            <a:ext cx="82296" cy="2468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310128"/>
            <a:ext cx="30275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3730752"/>
            <a:ext cx="30275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workspace where you build apps.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4343400"/>
            <a:ext cx="30275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Designer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7240" y="4727448"/>
            <a:ext cx="30275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Editor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77240" y="5111496"/>
            <a:ext cx="30275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353458" y="3108960"/>
            <a:ext cx="3484778" cy="2468880"/>
          </a:xfrm>
          <a:prstGeom prst="roundRect">
            <a:avLst>
              <a:gd name="adj" fmla="val 3333"/>
            </a:avLst>
          </a:prstGeom>
          <a:solidFill>
            <a:srgbClr val="121B31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53458" y="3108960"/>
            <a:ext cx="82296" cy="24688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8" name="Text 26"/>
          <p:cNvSpPr/>
          <p:nvPr/>
        </p:nvSpPr>
        <p:spPr>
          <a:xfrm>
            <a:off x="4627778" y="3310128"/>
            <a:ext cx="30275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PASCAL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27778" y="3730752"/>
            <a:ext cx="30275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you write logic in.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27778" y="4343400"/>
            <a:ext cx="30275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syntax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627778" y="4727448"/>
            <a:ext cx="30275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typed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627778" y="5111496"/>
            <a:ext cx="30275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learn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203997" y="3108960"/>
            <a:ext cx="3484778" cy="2468880"/>
          </a:xfrm>
          <a:prstGeom prst="roundRect">
            <a:avLst>
              <a:gd name="adj" fmla="val 3333"/>
            </a:avLst>
          </a:prstGeom>
          <a:solidFill>
            <a:srgbClr val="121B31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03997" y="3108960"/>
            <a:ext cx="82296" cy="24688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5" name="Text 33"/>
          <p:cNvSpPr/>
          <p:nvPr/>
        </p:nvSpPr>
        <p:spPr>
          <a:xfrm>
            <a:off x="8478317" y="3310128"/>
            <a:ext cx="30275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VCL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78317" y="3730752"/>
            <a:ext cx="30275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visual components.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478317" y="4343400"/>
            <a:ext cx="30275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&amp; Labels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478317" y="4727448"/>
            <a:ext cx="30275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&amp; Memos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478317" y="5111496"/>
            <a:ext cx="30275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Windows-native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GETTING STARTED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40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Application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454298" cy="777240"/>
          </a:xfrm>
          <a:prstGeom prst="roundRect">
            <a:avLst>
              <a:gd name="adj" fmla="val 10588"/>
            </a:avLst>
          </a:prstGeom>
          <a:solidFill>
            <a:srgbClr val="17223D"/>
          </a:solidFill>
          <a:ln w="25400">
            <a:solidFill>
              <a:srgbClr val="5B6C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75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345429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957218" y="2308860"/>
            <a:ext cx="411480" cy="914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68698" y="1920240"/>
            <a:ext cx="3454298" cy="777240"/>
          </a:xfrm>
          <a:prstGeom prst="roundRect">
            <a:avLst>
              <a:gd name="adj" fmla="val 10588"/>
            </a:avLst>
          </a:prstGeom>
          <a:solidFill>
            <a:srgbClr val="17223D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5858" y="1975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68698" y="1920240"/>
            <a:ext cx="345429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822997" y="2308860"/>
            <a:ext cx="411480" cy="914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234477" y="1920240"/>
            <a:ext cx="3454298" cy="777240"/>
          </a:xfrm>
          <a:prstGeom prst="roundRect">
            <a:avLst>
              <a:gd name="adj" fmla="val 10588"/>
            </a:avLst>
          </a:prstGeom>
          <a:solidFill>
            <a:srgbClr val="17223D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1637" y="1975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34477" y="1920240"/>
            <a:ext cx="345429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2920" y="3063240"/>
            <a:ext cx="3454298" cy="777240"/>
          </a:xfrm>
          <a:prstGeom prst="roundRect">
            <a:avLst>
              <a:gd name="adj" fmla="val 10588"/>
            </a:avLst>
          </a:prstGeom>
          <a:solidFill>
            <a:srgbClr val="17223D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18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063240"/>
            <a:ext cx="345429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368698" y="3063240"/>
            <a:ext cx="3454298" cy="777240"/>
          </a:xfrm>
          <a:prstGeom prst="roundRect">
            <a:avLst>
              <a:gd name="adj" fmla="val 10588"/>
            </a:avLst>
          </a:prstGeom>
          <a:solidFill>
            <a:srgbClr val="17223D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05858" y="3118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68698" y="3063240"/>
            <a:ext cx="345429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368698" y="3451860"/>
            <a:ext cx="-411480" cy="914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234477" y="3063240"/>
            <a:ext cx="3454298" cy="777240"/>
          </a:xfrm>
          <a:prstGeom prst="roundRect">
            <a:avLst>
              <a:gd name="adj" fmla="val 10588"/>
            </a:avLst>
          </a:prstGeom>
          <a:solidFill>
            <a:srgbClr val="153A2E"/>
          </a:solidFill>
          <a:ln w="254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71637" y="3118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34477" y="3063240"/>
            <a:ext cx="345429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234477" y="3451860"/>
            <a:ext cx="-411480" cy="914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961626" y="2697480"/>
            <a:ext cx="914" cy="36576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502920" y="429768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Delphi application follows this same pipeline — from a first idea to a running .EXE.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GETTING STARTED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40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WORKSPACE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Delphi IDE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1901595" cy="4206240"/>
          </a:xfrm>
          <a:prstGeom prst="roundRect">
            <a:avLst>
              <a:gd name="adj" fmla="val 3366"/>
            </a:avLst>
          </a:prstGeom>
          <a:solidFill>
            <a:srgbClr val="0D1526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2648" y="1645920"/>
            <a:ext cx="16821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PALETTE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2648" y="193852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20240"/>
            <a:ext cx="142610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TButton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2648" y="2249424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231136"/>
            <a:ext cx="142610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TLabel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" y="256032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42032"/>
            <a:ext cx="142610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TEdit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" y="2871216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852928"/>
            <a:ext cx="142610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TMemo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" y="3182112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163824"/>
            <a:ext cx="142610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TPanel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41675" y="1554480"/>
            <a:ext cx="6325335" cy="4206240"/>
          </a:xfrm>
          <a:prstGeom prst="roundRect">
            <a:avLst>
              <a:gd name="adj" fmla="val 1522"/>
            </a:avLst>
          </a:prstGeom>
          <a:solidFill>
            <a:srgbClr val="0D1526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41675" y="1554480"/>
            <a:ext cx="6325335" cy="347472"/>
          </a:xfrm>
          <a:prstGeom prst="roundRect">
            <a:avLst>
              <a:gd name="adj" fmla="val 18421"/>
            </a:avLst>
          </a:prstGeom>
          <a:solidFill>
            <a:srgbClr val="17223D"/>
          </a:solidFill>
          <a:ln/>
        </p:spPr>
      </p:sp>
      <p:sp>
        <p:nvSpPr>
          <p:cNvPr id="19" name="Shape 17"/>
          <p:cNvSpPr/>
          <p:nvPr/>
        </p:nvSpPr>
        <p:spPr>
          <a:xfrm>
            <a:off x="2541675" y="1728216"/>
            <a:ext cx="6325335" cy="173736"/>
          </a:xfrm>
          <a:prstGeom prst="rect">
            <a:avLst/>
          </a:prstGeom>
          <a:solidFill>
            <a:srgbClr val="17223D"/>
          </a:solidFill>
          <a:ln/>
        </p:spPr>
      </p:sp>
      <p:sp>
        <p:nvSpPr>
          <p:cNvPr id="20" name="Shape 18"/>
          <p:cNvSpPr/>
          <p:nvPr/>
        </p:nvSpPr>
        <p:spPr>
          <a:xfrm>
            <a:off x="2706267" y="1673352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1" name="Shape 19"/>
          <p:cNvSpPr/>
          <p:nvPr/>
        </p:nvSpPr>
        <p:spPr>
          <a:xfrm>
            <a:off x="2889147" y="1673352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2" name="Shape 20"/>
          <p:cNvSpPr/>
          <p:nvPr/>
        </p:nvSpPr>
        <p:spPr>
          <a:xfrm>
            <a:off x="3072027" y="1673352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3" name="Text 21"/>
          <p:cNvSpPr/>
          <p:nvPr/>
        </p:nvSpPr>
        <p:spPr>
          <a:xfrm>
            <a:off x="3364635" y="1591056"/>
            <a:ext cx="5319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Form1 (Unit1.pas)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41675" y="1901952"/>
            <a:ext cx="6325335" cy="3858768"/>
          </a:xfrm>
          <a:prstGeom prst="rect">
            <a:avLst/>
          </a:prstGeom>
          <a:solidFill>
            <a:srgbClr val="E9EDF4"/>
          </a:solidFill>
          <a:ln/>
        </p:spPr>
      </p:sp>
      <p:sp>
        <p:nvSpPr>
          <p:cNvPr id="25" name="Text 23"/>
          <p:cNvSpPr/>
          <p:nvPr/>
        </p:nvSpPr>
        <p:spPr>
          <a:xfrm>
            <a:off x="2815995" y="21762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004715" y="2157984"/>
            <a:ext cx="17373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8C99A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15995" y="2679192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E4E9F1"/>
          </a:solidFill>
          <a:ln w="12700">
            <a:solidFill>
              <a:srgbClr val="8C99A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15995" y="267919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Hello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70475" y="272491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141330" y="1554480"/>
            <a:ext cx="2684605" cy="4206240"/>
          </a:xfrm>
          <a:prstGeom prst="roundRect">
            <a:avLst>
              <a:gd name="adj" fmla="val 2384"/>
            </a:avLst>
          </a:prstGeom>
          <a:solidFill>
            <a:srgbClr val="0D1526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251058" y="1645920"/>
            <a:ext cx="246514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INSPECTOR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251058" y="1956816"/>
            <a:ext cx="11339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385027" y="1956816"/>
            <a:ext cx="13311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Button1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251058" y="2221992"/>
            <a:ext cx="11339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385027" y="2221992"/>
            <a:ext cx="13311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Say Hello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251058" y="2487168"/>
            <a:ext cx="11339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385027" y="2487168"/>
            <a:ext cx="13311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251058" y="2752344"/>
            <a:ext cx="11339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385027" y="2752344"/>
            <a:ext cx="13311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251058" y="3017520"/>
            <a:ext cx="11339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0385027" y="3017520"/>
            <a:ext cx="13311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251058" y="3282696"/>
            <a:ext cx="11339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0385027" y="3282696"/>
            <a:ext cx="13311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251058" y="3547872"/>
            <a:ext cx="11339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Visible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385027" y="3547872"/>
            <a:ext cx="13311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251058" y="3813048"/>
            <a:ext cx="11339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385027" y="3813048"/>
            <a:ext cx="13311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02920" y="589788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Designer  ·  Object Inspector  ·  Tool Palette  ·  Code Editor  ·  Project Manager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THE WORKSPACE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40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WORKSPACE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Designer + Components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6400800" cy="4206240"/>
          </a:xfrm>
          <a:prstGeom prst="roundRect">
            <a:avLst>
              <a:gd name="adj" fmla="val 1522"/>
            </a:avLst>
          </a:prstGeom>
          <a:solidFill>
            <a:srgbClr val="0D1526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00200"/>
            <a:ext cx="6400800" cy="347472"/>
          </a:xfrm>
          <a:prstGeom prst="roundRect">
            <a:avLst>
              <a:gd name="adj" fmla="val 18421"/>
            </a:avLst>
          </a:prstGeom>
          <a:solidFill>
            <a:srgbClr val="17223D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773936"/>
            <a:ext cx="6400800" cy="173736"/>
          </a:xfrm>
          <a:prstGeom prst="rect">
            <a:avLst/>
          </a:prstGeom>
          <a:solidFill>
            <a:srgbClr val="17223D"/>
          </a:solidFill>
          <a:ln/>
        </p:spPr>
      </p:sp>
      <p:sp>
        <p:nvSpPr>
          <p:cNvPr id="8" name="Shape 6"/>
          <p:cNvSpPr/>
          <p:nvPr/>
        </p:nvSpPr>
        <p:spPr>
          <a:xfrm>
            <a:off x="667512" y="1719072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9" name="Shape 7"/>
          <p:cNvSpPr/>
          <p:nvPr/>
        </p:nvSpPr>
        <p:spPr>
          <a:xfrm>
            <a:off x="850392" y="1719072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Shape 8"/>
          <p:cNvSpPr/>
          <p:nvPr/>
        </p:nvSpPr>
        <p:spPr>
          <a:xfrm>
            <a:off x="1033272" y="1719072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163677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Form1 (Unit1.pas)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1947672"/>
            <a:ext cx="6400800" cy="3858768"/>
          </a:xfrm>
          <a:prstGeom prst="rect">
            <a:avLst/>
          </a:prstGeom>
          <a:solidFill>
            <a:srgbClr val="E9EDF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2219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633472"/>
            <a:ext cx="2743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9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227832"/>
            <a:ext cx="1463040" cy="420624"/>
          </a:xfrm>
          <a:prstGeom prst="roundRect">
            <a:avLst>
              <a:gd name="adj" fmla="val 10870"/>
            </a:avLst>
          </a:prstGeom>
          <a:solidFill>
            <a:srgbClr val="E4E9F1"/>
          </a:solidFill>
          <a:ln w="12700">
            <a:solidFill>
              <a:srgbClr val="8C99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227832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14600" y="32918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3867912"/>
            <a:ext cx="32918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9A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959352"/>
            <a:ext cx="2834640" cy="45720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4105656"/>
            <a:ext cx="2468880" cy="45720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4251960"/>
            <a:ext cx="2103120" cy="45720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22" name="Shape 20"/>
          <p:cNvSpPr/>
          <p:nvPr/>
        </p:nvSpPr>
        <p:spPr>
          <a:xfrm>
            <a:off x="4389120" y="2221992"/>
            <a:ext cx="2011680" cy="1097280"/>
          </a:xfrm>
          <a:prstGeom prst="rect">
            <a:avLst/>
          </a:prstGeom>
          <a:solidFill>
            <a:srgbClr val="F1F3F7"/>
          </a:solidFill>
          <a:ln w="12700">
            <a:solidFill>
              <a:srgbClr val="B7C0C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69480" y="1600200"/>
            <a:ext cx="4419295" cy="4206240"/>
          </a:xfrm>
          <a:prstGeom prst="roundRect">
            <a:avLst>
              <a:gd name="adj" fmla="val 1957"/>
            </a:avLst>
          </a:prstGeom>
          <a:solidFill>
            <a:srgbClr val="121B31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543800" y="1783080"/>
            <a:ext cx="3870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VCL COMPONENTS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543800" y="22860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0" y="2231136"/>
            <a:ext cx="3504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TButton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863840" y="2505456"/>
            <a:ext cx="3504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button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543800" y="294436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7863840" y="2889504"/>
            <a:ext cx="3504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TLabel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63840" y="3163824"/>
            <a:ext cx="3504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text display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543800" y="360273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0" y="3547872"/>
            <a:ext cx="3504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TEdit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863840" y="3822192"/>
            <a:ext cx="3504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Single-line input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543800" y="426110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7863840" y="4206240"/>
            <a:ext cx="3504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TMemo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863840" y="4480560"/>
            <a:ext cx="3504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Multi-line text box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543800" y="491947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3B82F6"/>
          </a:solidFill>
          <a:ln/>
        </p:spPr>
      </p:sp>
      <p:sp>
        <p:nvSpPr>
          <p:cNvPr id="38" name="Text 36"/>
          <p:cNvSpPr/>
          <p:nvPr/>
        </p:nvSpPr>
        <p:spPr>
          <a:xfrm>
            <a:off x="7863840" y="4864608"/>
            <a:ext cx="3504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TPanel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863840" y="5138928"/>
            <a:ext cx="3504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container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2920" y="598932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= BUILDING BLOCKS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THE WORKSPACE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40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WORKSPACE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 Inspector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3931920" cy="4023360"/>
          </a:xfrm>
          <a:prstGeom prst="roundRect">
            <a:avLst>
              <a:gd name="adj" fmla="val 1628"/>
            </a:avLst>
          </a:prstGeom>
          <a:solidFill>
            <a:srgbClr val="0D1526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2648" y="1737360"/>
            <a:ext cx="3712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INSPECTOR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2648" y="2048256"/>
            <a:ext cx="170773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320381" y="2048256"/>
            <a:ext cx="200473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2648" y="2313432"/>
            <a:ext cx="170773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20381" y="2313432"/>
            <a:ext cx="200473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12648" y="2578608"/>
            <a:ext cx="170773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20381" y="2578608"/>
            <a:ext cx="200473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12648" y="2843784"/>
            <a:ext cx="170773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320381" y="2843784"/>
            <a:ext cx="200473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12648" y="3108960"/>
            <a:ext cx="170773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320381" y="3108960"/>
            <a:ext cx="200473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2648" y="3374136"/>
            <a:ext cx="170773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320381" y="3374136"/>
            <a:ext cx="200473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2648" y="3639312"/>
            <a:ext cx="170773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Visible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320381" y="3639312"/>
            <a:ext cx="200473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12648" y="3904488"/>
            <a:ext cx="170773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320381" y="3904488"/>
            <a:ext cx="200473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1645920"/>
            <a:ext cx="6888175" cy="4023360"/>
          </a:xfrm>
          <a:prstGeom prst="roundRect">
            <a:avLst>
              <a:gd name="adj" fmla="val 2045"/>
            </a:avLst>
          </a:prstGeom>
          <a:solidFill>
            <a:srgbClr val="121B31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120640" y="182880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PROPERTY, EXPLAINED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20640" y="2286000"/>
            <a:ext cx="62480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120640" y="2542032"/>
            <a:ext cx="62480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refer to the component in code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2852928"/>
            <a:ext cx="62480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120640" y="3108960"/>
            <a:ext cx="62480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visible text on the component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0640" y="3419856"/>
            <a:ext cx="62480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 / Height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120640" y="3675888"/>
            <a:ext cx="62480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component's size, in pixels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20640" y="3986784"/>
            <a:ext cx="62480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/ Top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120640" y="4242816"/>
            <a:ext cx="62480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component's position on the form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20640" y="4553712"/>
            <a:ext cx="62480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Visible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120640" y="4809744"/>
            <a:ext cx="62480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component is shown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20640" y="5120640"/>
            <a:ext cx="62480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Enabled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120640" y="5376672"/>
            <a:ext cx="62480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component responds to input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" y="598932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control how components look and behave.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THE WORKSPACE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40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WORKSPACE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3291840" cy="3840480"/>
          </a:xfrm>
          <a:prstGeom prst="roundRect">
            <a:avLst>
              <a:gd name="adj" fmla="val 2500"/>
            </a:avLst>
          </a:prstGeom>
          <a:solidFill>
            <a:srgbClr val="17223D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8745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📁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Delphi project is a folder of files that together build your app.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60520" y="1645920"/>
            <a:ext cx="7528255" cy="841248"/>
          </a:xfrm>
          <a:prstGeom prst="roundRect">
            <a:avLst>
              <a:gd name="adj" fmla="val 9783"/>
            </a:avLst>
          </a:prstGeom>
          <a:solidFill>
            <a:srgbClr val="121B31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81051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7922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0" y="173736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.DPR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29200" y="2084832"/>
            <a:ext cx="64309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source — the program entry point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60520" y="2615184"/>
            <a:ext cx="7528255" cy="841248"/>
          </a:xfrm>
          <a:prstGeom prst="roundRect">
            <a:avLst>
              <a:gd name="adj" fmla="val 9783"/>
            </a:avLst>
          </a:prstGeom>
          <a:solidFill>
            <a:srgbClr val="121B31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0" y="277977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2761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29200" y="270662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029200" y="3054096"/>
            <a:ext cx="64309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file — your Object Pascal code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60520" y="3584448"/>
            <a:ext cx="7528255" cy="841248"/>
          </a:xfrm>
          <a:prstGeom prst="roundRect">
            <a:avLst>
              <a:gd name="adj" fmla="val 9783"/>
            </a:avLst>
          </a:prstGeom>
          <a:solidFill>
            <a:srgbClr val="121B31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89120" y="37490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4ADE80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0" y="3730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029200" y="367588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.DFM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029200" y="4023360"/>
            <a:ext cx="64309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file — describes your form's layout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160520" y="4553712"/>
            <a:ext cx="7528255" cy="841248"/>
          </a:xfrm>
          <a:prstGeom prst="roundRect">
            <a:avLst>
              <a:gd name="adj" fmla="val 9783"/>
            </a:avLst>
          </a:prstGeom>
          <a:solidFill>
            <a:srgbClr val="121B31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89120" y="471830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BBF24"/>
          </a:solidFill>
          <a:ln/>
        </p:spPr>
      </p:sp>
      <p:sp>
        <p:nvSpPr>
          <p:cNvPr id="26" name="Text 24"/>
          <p:cNvSpPr/>
          <p:nvPr/>
        </p:nvSpPr>
        <p:spPr>
          <a:xfrm>
            <a:off x="4389120" y="47000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29200" y="464515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.EXE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029200" y="4992624"/>
            <a:ext cx="64309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application — ready to run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THE WORKSPACE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40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WORKSPACE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.DPR File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6309360" cy="3063240"/>
          </a:xfrm>
          <a:prstGeom prst="roundRect">
            <a:avLst>
              <a:gd name="adj" fmla="val 2687"/>
            </a:avLst>
          </a:prstGeom>
          <a:solidFill>
            <a:srgbClr val="0D1526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719072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1719072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106424" y="1719072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164592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MyProject.dpr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</a:t>
            </a:r>
            <a:pPr indent="0" marL="0">
              <a:buNone/>
            </a:pPr>
            <a:r>
              <a:rPr lang="en-US" sz="14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MyProject;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24028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46888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69748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Vcl.Forms,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92608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Unit1;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15468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38328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61188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Application.Initialize;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84048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Application.CreateForm(TForm1, Form1);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06908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Application.Run;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429768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132320" y="1554480"/>
            <a:ext cx="4556455" cy="3063240"/>
          </a:xfrm>
          <a:prstGeom prst="roundRect">
            <a:avLst>
              <a:gd name="adj" fmla="val 2687"/>
            </a:avLst>
          </a:prstGeom>
          <a:solidFill>
            <a:srgbClr val="121B31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06640" y="1737360"/>
            <a:ext cx="4007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unit is split into two parts: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452360" y="2286000"/>
            <a:ext cx="3916375" cy="502920"/>
          </a:xfrm>
          <a:prstGeom prst="roundRect">
            <a:avLst>
              <a:gd name="adj" fmla="val 12727"/>
            </a:avLst>
          </a:prstGeom>
          <a:solidFill>
            <a:srgbClr val="17223D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2286000"/>
            <a:ext cx="39163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410548" y="2788920"/>
            <a:ext cx="914" cy="27432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452360" y="3063240"/>
            <a:ext cx="3916375" cy="502920"/>
          </a:xfrm>
          <a:prstGeom prst="roundRect">
            <a:avLst>
              <a:gd name="adj" fmla="val 12727"/>
            </a:avLst>
          </a:prstGeom>
          <a:solidFill>
            <a:srgbClr val="17223D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52360" y="3063240"/>
            <a:ext cx="39163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2920" y="4846320"/>
            <a:ext cx="11185855" cy="1051560"/>
          </a:xfrm>
          <a:prstGeom prst="roundRect">
            <a:avLst>
              <a:gd name="adj" fmla="val 7826"/>
            </a:avLst>
          </a:prstGeom>
          <a:solidFill>
            <a:srgbClr val="121B31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7240" y="5029200"/>
            <a:ext cx="106372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pPr indent="0" marL="0">
              <a:buNone/>
            </a:pPr>
            <a:r>
              <a:rPr lang="en-US" sz="13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declares what exists (forms, variables, procedure names).   </a:t>
            </a:r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pPr indent="0" marL="0">
              <a:buNone/>
            </a:pPr>
            <a:r>
              <a:rPr lang="en-US" sz="13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contains the actual working code.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THE WORKSPACE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40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WORKSPACE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vs. Events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364328" cy="3931920"/>
          </a:xfrm>
          <a:prstGeom prst="roundRect">
            <a:avLst>
              <a:gd name="adj" fmla="val 2093"/>
            </a:avLst>
          </a:prstGeom>
          <a:solidFill>
            <a:srgbClr val="121B31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874520"/>
            <a:ext cx="536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463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characteristic of a component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051560" y="2880360"/>
            <a:ext cx="4267048" cy="457200"/>
          </a:xfrm>
          <a:prstGeom prst="roundRect">
            <a:avLst>
              <a:gd name="adj" fmla="val 14000"/>
            </a:avLst>
          </a:prstGeom>
          <a:solidFill>
            <a:srgbClr val="17223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88036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51560" y="3474720"/>
            <a:ext cx="4267048" cy="457200"/>
          </a:xfrm>
          <a:prstGeom prst="roundRect">
            <a:avLst>
              <a:gd name="adj" fmla="val 14000"/>
            </a:avLst>
          </a:prstGeom>
          <a:solidFill>
            <a:srgbClr val="17223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47472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51560" y="4069080"/>
            <a:ext cx="4267048" cy="457200"/>
          </a:xfrm>
          <a:prstGeom prst="roundRect">
            <a:avLst>
              <a:gd name="adj" fmla="val 14000"/>
            </a:avLst>
          </a:prstGeom>
          <a:solidFill>
            <a:srgbClr val="17223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06908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51560" y="4663440"/>
            <a:ext cx="4267048" cy="457200"/>
          </a:xfrm>
          <a:prstGeom prst="roundRect">
            <a:avLst>
              <a:gd name="adj" fmla="val 14000"/>
            </a:avLst>
          </a:prstGeom>
          <a:solidFill>
            <a:srgbClr val="17223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66344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24448" y="1691640"/>
            <a:ext cx="5364328" cy="3931920"/>
          </a:xfrm>
          <a:prstGeom prst="roundRect">
            <a:avLst>
              <a:gd name="adj" fmla="val 2093"/>
            </a:avLst>
          </a:prstGeom>
          <a:solidFill>
            <a:srgbClr val="121B31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24448" y="1874520"/>
            <a:ext cx="536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90208" y="2331720"/>
            <a:ext cx="463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that happens to a component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73088" y="2880360"/>
            <a:ext cx="4267048" cy="457200"/>
          </a:xfrm>
          <a:prstGeom prst="roundRect">
            <a:avLst>
              <a:gd name="adj" fmla="val 14000"/>
            </a:avLst>
          </a:prstGeom>
          <a:solidFill>
            <a:srgbClr val="17223D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73088" y="288036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73088" y="3474720"/>
            <a:ext cx="4267048" cy="457200"/>
          </a:xfrm>
          <a:prstGeom prst="roundRect">
            <a:avLst>
              <a:gd name="adj" fmla="val 14000"/>
            </a:avLst>
          </a:prstGeom>
          <a:solidFill>
            <a:srgbClr val="17223D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73088" y="347472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OnChange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73088" y="4069080"/>
            <a:ext cx="4267048" cy="457200"/>
          </a:xfrm>
          <a:prstGeom prst="roundRect">
            <a:avLst>
              <a:gd name="adj" fmla="val 14000"/>
            </a:avLst>
          </a:prstGeom>
          <a:solidFill>
            <a:srgbClr val="17223D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73088" y="406908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OnCreate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73088" y="4663440"/>
            <a:ext cx="4267048" cy="457200"/>
          </a:xfrm>
          <a:prstGeom prst="roundRect">
            <a:avLst>
              <a:gd name="adj" fmla="val 14000"/>
            </a:avLst>
          </a:prstGeom>
          <a:solidFill>
            <a:srgbClr val="17223D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73088" y="466344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OnKeyPress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THE WORKSPACE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40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This Interface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514600" y="1691640"/>
            <a:ext cx="7162495" cy="3383280"/>
          </a:xfrm>
          <a:prstGeom prst="roundRect">
            <a:avLst>
              <a:gd name="adj" fmla="val 1892"/>
            </a:avLst>
          </a:prstGeom>
          <a:solidFill>
            <a:srgbClr val="0D1526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14600" y="1691640"/>
            <a:ext cx="7162495" cy="347472"/>
          </a:xfrm>
          <a:prstGeom prst="roundRect">
            <a:avLst>
              <a:gd name="adj" fmla="val 18421"/>
            </a:avLst>
          </a:prstGeom>
          <a:solidFill>
            <a:srgbClr val="17223D"/>
          </a:solidFill>
          <a:ln/>
        </p:spPr>
      </p:sp>
      <p:sp>
        <p:nvSpPr>
          <p:cNvPr id="7" name="Shape 5"/>
          <p:cNvSpPr/>
          <p:nvPr/>
        </p:nvSpPr>
        <p:spPr>
          <a:xfrm>
            <a:off x="2514600" y="1865376"/>
            <a:ext cx="7162495" cy="173736"/>
          </a:xfrm>
          <a:prstGeom prst="rect">
            <a:avLst/>
          </a:prstGeom>
          <a:solidFill>
            <a:srgbClr val="17223D"/>
          </a:solidFill>
          <a:ln/>
        </p:spPr>
      </p:sp>
      <p:sp>
        <p:nvSpPr>
          <p:cNvPr id="8" name="Shape 6"/>
          <p:cNvSpPr/>
          <p:nvPr/>
        </p:nvSpPr>
        <p:spPr>
          <a:xfrm>
            <a:off x="2679192" y="1810512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9" name="Shape 7"/>
          <p:cNvSpPr/>
          <p:nvPr/>
        </p:nvSpPr>
        <p:spPr>
          <a:xfrm>
            <a:off x="2862072" y="1810512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Shape 8"/>
          <p:cNvSpPr/>
          <p:nvPr/>
        </p:nvSpPr>
        <p:spPr>
          <a:xfrm>
            <a:off x="3044952" y="1810512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728216"/>
            <a:ext cx="6156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Form1 (Unit1.pas)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4600" y="2039112"/>
            <a:ext cx="7162495" cy="3035808"/>
          </a:xfrm>
          <a:prstGeom prst="rect">
            <a:avLst/>
          </a:prstGeom>
          <a:solidFill>
            <a:srgbClr val="E9EDF4"/>
          </a:solidFill>
          <a:ln/>
        </p:spPr>
      </p:sp>
      <p:sp>
        <p:nvSpPr>
          <p:cNvPr id="13" name="Text 11"/>
          <p:cNvSpPr/>
          <p:nvPr/>
        </p:nvSpPr>
        <p:spPr>
          <a:xfrm>
            <a:off x="2971800" y="240487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2368296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8C99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29992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2962656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8C99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3639312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4E9F1"/>
          </a:solidFill>
          <a:ln w="12700">
            <a:solidFill>
              <a:srgbClr val="8C99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36393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90008" y="539496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2A231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90008" y="53949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5 MINUTE CHALLENGE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HANDS-ON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CODE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Programming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3728" y="2377440"/>
            <a:ext cx="1600200" cy="868680"/>
          </a:xfrm>
          <a:prstGeom prst="roundRect">
            <a:avLst>
              <a:gd name="adj" fmla="val 9474"/>
            </a:avLst>
          </a:prstGeom>
          <a:solidFill>
            <a:srgbClr val="17223D"/>
          </a:solidFill>
          <a:ln w="25400">
            <a:solidFill>
              <a:srgbClr val="5B6C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3728" y="237744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163928" y="2811780"/>
            <a:ext cx="292608" cy="914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56536" y="2377440"/>
            <a:ext cx="1600200" cy="868680"/>
          </a:xfrm>
          <a:prstGeom prst="roundRect">
            <a:avLst>
              <a:gd name="adj" fmla="val 9474"/>
            </a:avLst>
          </a:prstGeom>
          <a:solidFill>
            <a:srgbClr val="17223D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6536" y="237744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056736" y="2811780"/>
            <a:ext cx="292608" cy="914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49344" y="2377440"/>
            <a:ext cx="1600200" cy="868680"/>
          </a:xfrm>
          <a:prstGeom prst="roundRect">
            <a:avLst>
              <a:gd name="adj" fmla="val 9474"/>
            </a:avLst>
          </a:prstGeom>
          <a:solidFill>
            <a:srgbClr val="17223D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9344" y="237744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49544" y="2811780"/>
            <a:ext cx="292608" cy="914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42152" y="2377440"/>
            <a:ext cx="1600200" cy="868680"/>
          </a:xfrm>
          <a:prstGeom prst="roundRect">
            <a:avLst>
              <a:gd name="adj" fmla="val 9474"/>
            </a:avLst>
          </a:prstGeom>
          <a:solidFill>
            <a:srgbClr val="17223D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2152" y="237744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842352" y="2811780"/>
            <a:ext cx="292608" cy="914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134960" y="2377440"/>
            <a:ext cx="1600200" cy="868680"/>
          </a:xfrm>
          <a:prstGeom prst="roundRect">
            <a:avLst>
              <a:gd name="adj" fmla="val 9474"/>
            </a:avLst>
          </a:prstGeom>
          <a:solidFill>
            <a:srgbClr val="17223D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4960" y="237744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CHANGES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735160" y="2811780"/>
            <a:ext cx="292608" cy="914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027768" y="2377440"/>
            <a:ext cx="1600200" cy="868680"/>
          </a:xfrm>
          <a:prstGeom prst="roundRect">
            <a:avLst>
              <a:gd name="adj" fmla="val 9474"/>
            </a:avLst>
          </a:prstGeom>
          <a:solidFill>
            <a:srgbClr val="153A2E"/>
          </a:solidFill>
          <a:ln w="2540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27768" y="237744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" y="374904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click doesn't run your code directly — it fires an event, and Delphi calls your handler.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804008" y="4480560"/>
            <a:ext cx="3108960" cy="1371600"/>
          </a:xfrm>
          <a:prstGeom prst="roundRect">
            <a:avLst>
              <a:gd name="adj" fmla="val 6000"/>
            </a:avLst>
          </a:prstGeom>
          <a:solidFill>
            <a:srgbClr val="121B31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804008" y="4617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CLICK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09848" y="498348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E4E9F1"/>
          </a:solidFill>
          <a:ln w="12700">
            <a:solidFill>
              <a:srgbClr val="8C99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09848" y="4983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Me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95848" y="4480560"/>
            <a:ext cx="3108960" cy="1371600"/>
          </a:xfrm>
          <a:prstGeom prst="roundRect">
            <a:avLst>
              <a:gd name="adj" fmla="val 6000"/>
            </a:avLst>
          </a:prstGeom>
          <a:solidFill>
            <a:srgbClr val="121B31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095848" y="4617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CLICK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01688" y="498348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E4E9F1"/>
          </a:solidFill>
          <a:ln w="12700">
            <a:solidFill>
              <a:srgbClr val="8C99A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01688" y="4983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Me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44488" y="5532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Delphi!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EVENTS &amp; CODE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CODE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Event Handler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85855" cy="2331720"/>
          </a:xfrm>
          <a:prstGeom prst="roundRect">
            <a:avLst>
              <a:gd name="adj" fmla="val 3529"/>
            </a:avLst>
          </a:prstGeom>
          <a:solidFill>
            <a:srgbClr val="0D1526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901952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1901952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106424" y="1901952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1828800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Unit1.pas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194560"/>
            <a:ext cx="105914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procedure</a:t>
            </a:r>
            <a:pPr indent="0" marL="0">
              <a:buNone/>
            </a:pPr>
            <a:r>
              <a:rPr lang="en-US" sz="18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TForm1.</a:t>
            </a:r>
            <a:pPr indent="0" marL="0">
              <a:buNone/>
            </a:pPr>
            <a:r>
              <a:rPr lang="en-US" sz="1800" dirty="0">
                <a:solidFill>
                  <a:srgbClr val="6FB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Button1Click</a:t>
            </a:r>
            <a:pPr indent="0" marL="0">
              <a:buNone/>
            </a:pPr>
            <a:r>
              <a:rPr lang="en-US" sz="18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(Sender: TObject);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615184"/>
            <a:ext cx="105914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035808"/>
            <a:ext cx="105914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Label1.Caption := </a:t>
            </a:r>
            <a:pPr indent="0" marL="0">
              <a:buNone/>
            </a:pPr>
            <a:r>
              <a:rPr lang="en-US" sz="1800" dirty="0">
                <a:solidFill>
                  <a:srgbClr val="F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 Delphi!'</a:t>
            </a:r>
            <a:pPr indent="0" marL="0">
              <a:buNone/>
            </a:pPr>
            <a:r>
              <a:rPr lang="en-US" sz="18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3456432"/>
            <a:ext cx="105914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2920" y="4343400"/>
            <a:ext cx="2556434" cy="1417320"/>
          </a:xfrm>
          <a:prstGeom prst="roundRect">
            <a:avLst>
              <a:gd name="adj" fmla="val 5806"/>
            </a:avLst>
          </a:prstGeom>
          <a:solidFill>
            <a:srgbClr val="121B31"/>
          </a:solidFill>
          <a:ln w="12700">
            <a:solidFill>
              <a:srgbClr val="C792E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4507992"/>
            <a:ext cx="25564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procedure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4901184"/>
            <a:ext cx="228211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 named block of code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79394" y="4343400"/>
            <a:ext cx="2556434" cy="1417320"/>
          </a:xfrm>
          <a:prstGeom prst="roundRect">
            <a:avLst>
              <a:gd name="adj" fmla="val 5806"/>
            </a:avLst>
          </a:prstGeom>
          <a:solidFill>
            <a:srgbClr val="121B31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79394" y="4507992"/>
            <a:ext cx="25564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16554" y="4901184"/>
            <a:ext cx="228211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where the code starts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55868" y="4343400"/>
            <a:ext cx="2556434" cy="1417320"/>
          </a:xfrm>
          <a:prstGeom prst="roundRect">
            <a:avLst>
              <a:gd name="adj" fmla="val 5806"/>
            </a:avLst>
          </a:prstGeom>
          <a:solidFill>
            <a:srgbClr val="121B31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55868" y="4507992"/>
            <a:ext cx="25564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93028" y="4901184"/>
            <a:ext cx="228211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instructions that run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32341" y="4343400"/>
            <a:ext cx="2556434" cy="1417320"/>
          </a:xfrm>
          <a:prstGeom prst="roundRect">
            <a:avLst>
              <a:gd name="adj" fmla="val 5806"/>
            </a:avLst>
          </a:prstGeom>
          <a:solidFill>
            <a:srgbClr val="121B31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32341" y="4507992"/>
            <a:ext cx="25564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69501" y="4901184"/>
            <a:ext cx="228211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where the code stops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EVENTS &amp; CODE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40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CODE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begin, end &amp; Assignment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6035040" cy="1554480"/>
          </a:xfrm>
          <a:prstGeom prst="roundRect">
            <a:avLst>
              <a:gd name="adj" fmla="val 5294"/>
            </a:avLst>
          </a:prstGeom>
          <a:solidFill>
            <a:srgbClr val="0D1526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856232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1856232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106424" y="1856232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178308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Unit1.pas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14884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2532888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Label1.Caption := </a:t>
            </a:r>
            <a:pPr indent="0" marL="0">
              <a:buNone/>
            </a:pPr>
            <a:r>
              <a:rPr lang="en-US" sz="1700" dirty="0">
                <a:solidFill>
                  <a:srgbClr val="F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 Delphi!'</a:t>
            </a:r>
            <a:pPr indent="0" marL="0">
              <a:buNone/>
            </a:pPr>
            <a:r>
              <a:rPr lang="en-US" sz="17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2916936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858000" y="1691640"/>
            <a:ext cx="4830775" cy="1554480"/>
          </a:xfrm>
          <a:prstGeom prst="roundRect">
            <a:avLst>
              <a:gd name="adj" fmla="val 5294"/>
            </a:avLst>
          </a:prstGeom>
          <a:solidFill>
            <a:srgbClr val="17223D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1783080"/>
            <a:ext cx="4830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040880" y="2514600"/>
            <a:ext cx="4465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:= assigns a value.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703320"/>
            <a:ext cx="11185855" cy="1965960"/>
          </a:xfrm>
          <a:prstGeom prst="roundRect">
            <a:avLst>
              <a:gd name="adj" fmla="val 4186"/>
            </a:avLst>
          </a:prstGeom>
          <a:solidFill>
            <a:srgbClr val="121B31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886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FLOW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51560" y="4434840"/>
            <a:ext cx="2743200" cy="640080"/>
          </a:xfrm>
          <a:prstGeom prst="roundRect">
            <a:avLst>
              <a:gd name="adj" fmla="val 50000"/>
            </a:avLst>
          </a:prstGeom>
          <a:solidFill>
            <a:srgbClr val="2A2314"/>
          </a:solidFill>
          <a:ln w="12700">
            <a:solidFill>
              <a:srgbClr val="F0A8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434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'Hello Delphi!'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69080" y="4754880"/>
            <a:ext cx="1828800" cy="914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480560" y="42976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080760" y="4434840"/>
            <a:ext cx="3108960" cy="640080"/>
          </a:xfrm>
          <a:prstGeom prst="roundRect">
            <a:avLst>
              <a:gd name="adj" fmla="val 50000"/>
            </a:avLst>
          </a:prstGeom>
          <a:solidFill>
            <a:srgbClr val="17223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44348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Label1.Caption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" y="525780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 on the right of := flows into the property on the left.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EVENTS &amp; CODE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40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Message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85855" cy="1280160"/>
          </a:xfrm>
          <a:prstGeom prst="roundRect">
            <a:avLst>
              <a:gd name="adj" fmla="val 6429"/>
            </a:avLst>
          </a:prstGeom>
          <a:solidFill>
            <a:srgbClr val="0D1526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901952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1901952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106424" y="1901952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1828800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Unit1.pas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194560"/>
            <a:ext cx="10591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Label1.Caption := </a:t>
            </a:r>
            <a:pPr indent="0" marL="0">
              <a:buNone/>
            </a:pPr>
            <a:r>
              <a:rPr lang="en-US" sz="2000" dirty="0">
                <a:solidFill>
                  <a:srgbClr val="F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'____________'</a:t>
            </a:r>
            <a:pPr indent="0" marL="0">
              <a:buNone/>
            </a:pPr>
            <a:r>
              <a:rPr lang="en-US" sz="20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VALUES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703320"/>
            <a:ext cx="5364328" cy="1005840"/>
          </a:xfrm>
          <a:prstGeom prst="roundRect">
            <a:avLst>
              <a:gd name="adj" fmla="val 8182"/>
            </a:avLst>
          </a:prstGeom>
          <a:solidFill>
            <a:srgbClr val="17223D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703320"/>
            <a:ext cx="5364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'Welcome to Delphi!'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324448" y="3703320"/>
            <a:ext cx="5364328" cy="1005840"/>
          </a:xfrm>
          <a:prstGeom prst="roundRect">
            <a:avLst>
              <a:gd name="adj" fmla="val 8182"/>
            </a:avLst>
          </a:prstGeom>
          <a:solidFill>
            <a:srgbClr val="17223D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24448" y="3703320"/>
            <a:ext cx="5364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'Hello, Ajeet!'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4724248" y="5074920"/>
            <a:ext cx="2743200" cy="502920"/>
          </a:xfrm>
          <a:prstGeom prst="roundRect">
            <a:avLst>
              <a:gd name="adj" fmla="val 50000"/>
            </a:avLst>
          </a:prstGeom>
          <a:solidFill>
            <a:srgbClr val="1E2A4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4248" y="50749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ON YOUR FORM 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HANDS-ON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40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LOGIC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Data Types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17223D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659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69748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97480" y="196596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17223D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19659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"Alex"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02920" y="3200400"/>
            <a:ext cx="2017715" cy="1737360"/>
          </a:xfrm>
          <a:prstGeom prst="roundRect">
            <a:avLst>
              <a:gd name="adj" fmla="val 4737"/>
            </a:avLst>
          </a:prstGeom>
          <a:solidFill>
            <a:srgbClr val="121B31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383280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77240" y="3858768"/>
            <a:ext cx="1469075" cy="914"/>
          </a:xfrm>
          <a:prstGeom prst="line">
            <a:avLst/>
          </a:prstGeom>
          <a:noFill/>
          <a:ln w="12700">
            <a:solidFill>
              <a:srgbClr val="2632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977640"/>
            <a:ext cx="20177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4343400"/>
            <a:ext cx="20177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794955" y="3200400"/>
            <a:ext cx="2017715" cy="1737360"/>
          </a:xfrm>
          <a:prstGeom prst="roundRect">
            <a:avLst>
              <a:gd name="adj" fmla="val 4737"/>
            </a:avLst>
          </a:prstGeom>
          <a:solidFill>
            <a:srgbClr val="121B31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94955" y="3383280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3069275" y="3858768"/>
            <a:ext cx="1469075" cy="914"/>
          </a:xfrm>
          <a:prstGeom prst="line">
            <a:avLst/>
          </a:prstGeom>
          <a:noFill/>
          <a:ln w="12700">
            <a:solidFill>
              <a:srgbClr val="2632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94955" y="3977640"/>
            <a:ext cx="20177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94955" y="4343400"/>
            <a:ext cx="20177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25.5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86990" y="3200400"/>
            <a:ext cx="2017715" cy="1737360"/>
          </a:xfrm>
          <a:prstGeom prst="roundRect">
            <a:avLst>
              <a:gd name="adj" fmla="val 4737"/>
            </a:avLst>
          </a:prstGeom>
          <a:solidFill>
            <a:srgbClr val="121B31"/>
          </a:solidFill>
          <a:ln w="12700">
            <a:solidFill>
              <a:srgbClr val="F0A86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86990" y="3383280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361310" y="3858768"/>
            <a:ext cx="1469075" cy="914"/>
          </a:xfrm>
          <a:prstGeom prst="line">
            <a:avLst/>
          </a:prstGeom>
          <a:noFill/>
          <a:ln w="12700">
            <a:solidFill>
              <a:srgbClr val="2632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86990" y="3977640"/>
            <a:ext cx="20177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86990" y="4343400"/>
            <a:ext cx="20177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379025" y="3200400"/>
            <a:ext cx="2017715" cy="1737360"/>
          </a:xfrm>
          <a:prstGeom prst="roundRect">
            <a:avLst>
              <a:gd name="adj" fmla="val 4737"/>
            </a:avLst>
          </a:prstGeom>
          <a:solidFill>
            <a:srgbClr val="121B31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79025" y="3383280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7653345" y="3858768"/>
            <a:ext cx="1469075" cy="914"/>
          </a:xfrm>
          <a:prstGeom prst="line">
            <a:avLst/>
          </a:prstGeom>
          <a:noFill/>
          <a:ln w="12700">
            <a:solidFill>
              <a:srgbClr val="2632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79025" y="3977640"/>
            <a:ext cx="20177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79025" y="4343400"/>
            <a:ext cx="20177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671060" y="3200400"/>
            <a:ext cx="2017715" cy="1737360"/>
          </a:xfrm>
          <a:prstGeom prst="roundRect">
            <a:avLst>
              <a:gd name="adj" fmla="val 4737"/>
            </a:avLst>
          </a:prstGeom>
          <a:solidFill>
            <a:srgbClr val="121B31"/>
          </a:solidFill>
          <a:ln w="12700">
            <a:solidFill>
              <a:srgbClr val="C792E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671060" y="3383280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79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9945380" y="3858768"/>
            <a:ext cx="1469075" cy="914"/>
          </a:xfrm>
          <a:prstGeom prst="line">
            <a:avLst/>
          </a:prstGeom>
          <a:noFill/>
          <a:ln w="12700">
            <a:solidFill>
              <a:srgbClr val="2632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71060" y="3977640"/>
            <a:ext cx="20177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671060" y="4343400"/>
            <a:ext cx="20177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DATA &amp; LOGIC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40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LOGIC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&amp; Output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383280" cy="566928"/>
          </a:xfrm>
          <a:prstGeom prst="roundRect">
            <a:avLst>
              <a:gd name="adj" fmla="val 11290"/>
            </a:avLst>
          </a:prstGeom>
          <a:solidFill>
            <a:srgbClr val="17223D"/>
          </a:solidFill>
          <a:ln w="19050">
            <a:solidFill>
              <a:srgbClr val="5B6C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194560" y="2258568"/>
            <a:ext cx="914" cy="22860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02920" y="2487168"/>
            <a:ext cx="3383280" cy="566928"/>
          </a:xfrm>
          <a:prstGeom prst="roundRect">
            <a:avLst>
              <a:gd name="adj" fmla="val 11290"/>
            </a:avLst>
          </a:prstGeom>
          <a:solidFill>
            <a:srgbClr val="17223D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87168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Edit1.Text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194560" y="3054096"/>
            <a:ext cx="914" cy="22860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2920" y="3282696"/>
            <a:ext cx="3383280" cy="566928"/>
          </a:xfrm>
          <a:prstGeom prst="roundRect">
            <a:avLst>
              <a:gd name="adj" fmla="val 11290"/>
            </a:avLst>
          </a:prstGeom>
          <a:solidFill>
            <a:srgbClr val="17223D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282696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194560" y="3849624"/>
            <a:ext cx="914" cy="22860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2920" y="4078224"/>
            <a:ext cx="3383280" cy="566928"/>
          </a:xfrm>
          <a:prstGeom prst="roundRect">
            <a:avLst>
              <a:gd name="adj" fmla="val 11290"/>
            </a:avLst>
          </a:prstGeom>
          <a:solidFill>
            <a:srgbClr val="17223D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07822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Label1.Caption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194560" y="4645152"/>
            <a:ext cx="914" cy="22860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2920" y="4873752"/>
            <a:ext cx="3383280" cy="566928"/>
          </a:xfrm>
          <a:prstGeom prst="roundRect">
            <a:avLst>
              <a:gd name="adj" fmla="val 11290"/>
            </a:avLst>
          </a:prstGeom>
          <a:solidFill>
            <a:srgbClr val="153A2E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87375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434840" y="1691640"/>
            <a:ext cx="7253935" cy="1920240"/>
          </a:xfrm>
          <a:prstGeom prst="roundRect">
            <a:avLst>
              <a:gd name="adj" fmla="val 4286"/>
            </a:avLst>
          </a:prstGeom>
          <a:solidFill>
            <a:srgbClr val="0D1526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36008" y="1856232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1" name="Shape 19"/>
          <p:cNvSpPr/>
          <p:nvPr/>
        </p:nvSpPr>
        <p:spPr>
          <a:xfrm>
            <a:off x="4837176" y="1856232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2" name="Shape 20"/>
          <p:cNvSpPr/>
          <p:nvPr/>
        </p:nvSpPr>
        <p:spPr>
          <a:xfrm>
            <a:off x="5038344" y="1856232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3" name="Text 21"/>
          <p:cNvSpPr/>
          <p:nvPr/>
        </p:nvSpPr>
        <p:spPr>
          <a:xfrm>
            <a:off x="5349240" y="1783080"/>
            <a:ext cx="61566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Unit1.pas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2148840"/>
            <a:ext cx="6659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:= Edit1.Text;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754880" y="2606040"/>
            <a:ext cx="6659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54880" y="3063240"/>
            <a:ext cx="6659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Label1.Caption := name;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434840" y="3886200"/>
            <a:ext cx="7253935" cy="2011680"/>
          </a:xfrm>
          <a:prstGeom prst="roundRect">
            <a:avLst>
              <a:gd name="adj" fmla="val 4091"/>
            </a:avLst>
          </a:prstGeom>
          <a:solidFill>
            <a:srgbClr val="121B31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4069080"/>
            <a:ext cx="6613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HAPPENING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4434840"/>
            <a:ext cx="6613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typed by the user lives in Edit1.Text.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54880" y="4855464"/>
            <a:ext cx="6613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copied into a variable called name.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0" y="5276088"/>
            <a:ext cx="6613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variable is displayed via Label1.Caption.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DATA &amp; LOGIC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40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LOGIC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StrToInt &amp; IntToStr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318608" cy="2286000"/>
          </a:xfrm>
          <a:prstGeom prst="roundRect">
            <a:avLst>
              <a:gd name="adj" fmla="val 3600"/>
            </a:avLst>
          </a:prstGeom>
          <a:solidFill>
            <a:srgbClr val="121B31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847088"/>
            <a:ext cx="5318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→ INTEGER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39264" y="2240280"/>
            <a:ext cx="1645920" cy="502920"/>
          </a:xfrm>
          <a:prstGeom prst="roundRect">
            <a:avLst>
              <a:gd name="adj" fmla="val 50000"/>
            </a:avLst>
          </a:prstGeom>
          <a:solidFill>
            <a:srgbClr val="2A2314"/>
          </a:solidFill>
          <a:ln w="12700">
            <a:solidFill>
              <a:srgbClr val="F0A8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9264" y="22402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"25"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62224" y="2743200"/>
            <a:ext cx="914" cy="41148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02920" y="3127248"/>
            <a:ext cx="5318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StrToInt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62224" y="3401568"/>
            <a:ext cx="914" cy="32004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339264" y="3749040"/>
            <a:ext cx="1645920" cy="502920"/>
          </a:xfrm>
          <a:prstGeom prst="roundRect">
            <a:avLst>
              <a:gd name="adj" fmla="val 50000"/>
            </a:avLst>
          </a:prstGeom>
          <a:solidFill>
            <a:srgbClr val="17223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9264" y="3749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70168" y="1691640"/>
            <a:ext cx="5318608" cy="2286000"/>
          </a:xfrm>
          <a:prstGeom prst="roundRect">
            <a:avLst>
              <a:gd name="adj" fmla="val 3600"/>
            </a:avLst>
          </a:prstGeom>
          <a:solidFill>
            <a:srgbClr val="121B31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70168" y="1847088"/>
            <a:ext cx="5318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→ STRING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06511" y="2240280"/>
            <a:ext cx="1645920" cy="502920"/>
          </a:xfrm>
          <a:prstGeom prst="roundRect">
            <a:avLst>
              <a:gd name="adj" fmla="val 50000"/>
            </a:avLst>
          </a:prstGeom>
          <a:solidFill>
            <a:srgbClr val="17223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06511" y="22402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029471" y="2743200"/>
            <a:ext cx="914" cy="41148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370168" y="3127248"/>
            <a:ext cx="5318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IntToStr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029471" y="3401568"/>
            <a:ext cx="914" cy="32004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06511" y="3749040"/>
            <a:ext cx="1645920" cy="502920"/>
          </a:xfrm>
          <a:prstGeom prst="roundRect">
            <a:avLst>
              <a:gd name="adj" fmla="val 50000"/>
            </a:avLst>
          </a:prstGeom>
          <a:solidFill>
            <a:srgbClr val="2A2314"/>
          </a:solidFill>
          <a:ln w="12700">
            <a:solidFill>
              <a:srgbClr val="F0A8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06511" y="3749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"25"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02920" y="4343400"/>
            <a:ext cx="11185855" cy="1325880"/>
          </a:xfrm>
          <a:prstGeom prst="roundRect">
            <a:avLst>
              <a:gd name="adj" fmla="val 6207"/>
            </a:avLst>
          </a:prstGeom>
          <a:solidFill>
            <a:srgbClr val="0D1526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4088" y="4507992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5" name="Shape 23"/>
          <p:cNvSpPr/>
          <p:nvPr/>
        </p:nvSpPr>
        <p:spPr>
          <a:xfrm>
            <a:off x="905256" y="4507992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6" name="Shape 24"/>
          <p:cNvSpPr/>
          <p:nvPr/>
        </p:nvSpPr>
        <p:spPr>
          <a:xfrm>
            <a:off x="1106424" y="4507992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7" name="Text 25"/>
          <p:cNvSpPr/>
          <p:nvPr/>
        </p:nvSpPr>
        <p:spPr>
          <a:xfrm>
            <a:off x="1417320" y="4434840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Unit1.pas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4800600"/>
            <a:ext cx="10591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:= StrToInt(Edit1.Text);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2960" y="5129784"/>
            <a:ext cx="10591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2960" y="5458968"/>
            <a:ext cx="105914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Label1.Caption := IntToStr(age);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DATA &amp; LOGIC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40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LOGIC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673809" cy="640080"/>
          </a:xfrm>
          <a:prstGeom prst="roundRect">
            <a:avLst>
              <a:gd name="adj" fmla="val 11429"/>
            </a:avLst>
          </a:prstGeom>
          <a:solidFill>
            <a:srgbClr val="17223D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167380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05329" y="1691640"/>
            <a:ext cx="1673809" cy="640080"/>
          </a:xfrm>
          <a:prstGeom prst="roundRect">
            <a:avLst>
              <a:gd name="adj" fmla="val 11429"/>
            </a:avLst>
          </a:prstGeom>
          <a:solidFill>
            <a:srgbClr val="17223D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05329" y="1691640"/>
            <a:ext cx="167380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07738" y="1691640"/>
            <a:ext cx="1673809" cy="640080"/>
          </a:xfrm>
          <a:prstGeom prst="roundRect">
            <a:avLst>
              <a:gd name="adj" fmla="val 11429"/>
            </a:avLst>
          </a:prstGeom>
          <a:solidFill>
            <a:srgbClr val="17223D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07738" y="1691640"/>
            <a:ext cx="167380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10148" y="1691640"/>
            <a:ext cx="1673809" cy="640080"/>
          </a:xfrm>
          <a:prstGeom prst="roundRect">
            <a:avLst>
              <a:gd name="adj" fmla="val 11429"/>
            </a:avLst>
          </a:prstGeom>
          <a:solidFill>
            <a:srgbClr val="17223D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0148" y="1691640"/>
            <a:ext cx="167380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12557" y="1691640"/>
            <a:ext cx="1673809" cy="640080"/>
          </a:xfrm>
          <a:prstGeom prst="roundRect">
            <a:avLst>
              <a:gd name="adj" fmla="val 11429"/>
            </a:avLst>
          </a:prstGeom>
          <a:solidFill>
            <a:srgbClr val="17223D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2557" y="1691640"/>
            <a:ext cx="167380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014966" y="1691640"/>
            <a:ext cx="1673809" cy="640080"/>
          </a:xfrm>
          <a:prstGeom prst="roundRect">
            <a:avLst>
              <a:gd name="adj" fmla="val 11429"/>
            </a:avLst>
          </a:prstGeom>
          <a:solidFill>
            <a:srgbClr val="17223D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14966" y="1691640"/>
            <a:ext cx="167380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2920" y="2606040"/>
            <a:ext cx="2423160" cy="621792"/>
          </a:xfrm>
          <a:prstGeom prst="roundRect">
            <a:avLst>
              <a:gd name="adj" fmla="val 10294"/>
            </a:avLst>
          </a:prstGeom>
          <a:solidFill>
            <a:srgbClr val="17223D"/>
          </a:solidFill>
          <a:ln w="19050">
            <a:solidFill>
              <a:srgbClr val="5B6C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60604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926080" y="2916936"/>
            <a:ext cx="292608" cy="914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218688" y="2606040"/>
            <a:ext cx="2423160" cy="621792"/>
          </a:xfrm>
          <a:prstGeom prst="roundRect">
            <a:avLst>
              <a:gd name="adj" fmla="val 10294"/>
            </a:avLst>
          </a:prstGeom>
          <a:solidFill>
            <a:srgbClr val="17223D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18688" y="260604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41848" y="2916936"/>
            <a:ext cx="292608" cy="914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934456" y="2606040"/>
            <a:ext cx="2423160" cy="621792"/>
          </a:xfrm>
          <a:prstGeom prst="roundRect">
            <a:avLst>
              <a:gd name="adj" fmla="val 10294"/>
            </a:avLst>
          </a:prstGeom>
          <a:solidFill>
            <a:srgbClr val="17223D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34456" y="260604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357616" y="2916936"/>
            <a:ext cx="292608" cy="914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650224" y="2606040"/>
            <a:ext cx="2423160" cy="621792"/>
          </a:xfrm>
          <a:prstGeom prst="roundRect">
            <a:avLst>
              <a:gd name="adj" fmla="val 10294"/>
            </a:avLst>
          </a:prstGeom>
          <a:solidFill>
            <a:srgbClr val="153A2E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50224" y="260604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" y="3429000"/>
            <a:ext cx="11185855" cy="2697480"/>
          </a:xfrm>
          <a:prstGeom prst="roundRect">
            <a:avLst>
              <a:gd name="adj" fmla="val 3051"/>
            </a:avLst>
          </a:prstGeom>
          <a:solidFill>
            <a:srgbClr val="0D1526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04088" y="3593592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0" name="Shape 28"/>
          <p:cNvSpPr/>
          <p:nvPr/>
        </p:nvSpPr>
        <p:spPr>
          <a:xfrm>
            <a:off x="905256" y="3593592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1" name="Shape 29"/>
          <p:cNvSpPr/>
          <p:nvPr/>
        </p:nvSpPr>
        <p:spPr>
          <a:xfrm>
            <a:off x="1106424" y="3593592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2" name="Text 30"/>
          <p:cNvSpPr/>
          <p:nvPr/>
        </p:nvSpPr>
        <p:spPr>
          <a:xfrm>
            <a:off x="1417320" y="3520440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Unit1.pas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" y="3886200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:= StrToInt(Edit1.Text);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2960" y="4251960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:= StrToInt(Edit2.Text);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2960" y="4617720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2960" y="4983480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:= a + b;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2960" y="5349240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2960" y="5715000"/>
            <a:ext cx="10591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Label1.Caption := IntToStr(result);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DATA &amp; LOGIC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40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Project: Calculator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965960" y="1600200"/>
            <a:ext cx="8259775" cy="3931920"/>
          </a:xfrm>
          <a:prstGeom prst="roundRect">
            <a:avLst>
              <a:gd name="adj" fmla="val 1628"/>
            </a:avLst>
          </a:prstGeom>
          <a:solidFill>
            <a:srgbClr val="0D1526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65960" y="1600200"/>
            <a:ext cx="8259775" cy="347472"/>
          </a:xfrm>
          <a:prstGeom prst="roundRect">
            <a:avLst>
              <a:gd name="adj" fmla="val 18421"/>
            </a:avLst>
          </a:prstGeom>
          <a:solidFill>
            <a:srgbClr val="17223D"/>
          </a:solidFill>
          <a:ln/>
        </p:spPr>
      </p:sp>
      <p:sp>
        <p:nvSpPr>
          <p:cNvPr id="7" name="Shape 5"/>
          <p:cNvSpPr/>
          <p:nvPr/>
        </p:nvSpPr>
        <p:spPr>
          <a:xfrm>
            <a:off x="1965960" y="1773936"/>
            <a:ext cx="8259775" cy="173736"/>
          </a:xfrm>
          <a:prstGeom prst="rect">
            <a:avLst/>
          </a:prstGeom>
          <a:solidFill>
            <a:srgbClr val="17223D"/>
          </a:solidFill>
          <a:ln/>
        </p:spPr>
      </p:sp>
      <p:sp>
        <p:nvSpPr>
          <p:cNvPr id="8" name="Shape 6"/>
          <p:cNvSpPr/>
          <p:nvPr/>
        </p:nvSpPr>
        <p:spPr>
          <a:xfrm>
            <a:off x="2130552" y="1719072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9" name="Shape 7"/>
          <p:cNvSpPr/>
          <p:nvPr/>
        </p:nvSpPr>
        <p:spPr>
          <a:xfrm>
            <a:off x="2313432" y="1719072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Shape 8"/>
          <p:cNvSpPr/>
          <p:nvPr/>
        </p:nvSpPr>
        <p:spPr>
          <a:xfrm>
            <a:off x="2496312" y="1719072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1636776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Calculator.pas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65960" y="1947672"/>
            <a:ext cx="8259775" cy="3584448"/>
          </a:xfrm>
          <a:prstGeom prst="rect">
            <a:avLst/>
          </a:prstGeom>
          <a:solidFill>
            <a:srgbClr val="E9EDF4"/>
          </a:solidFill>
          <a:ln/>
        </p:spPr>
      </p:sp>
      <p:sp>
        <p:nvSpPr>
          <p:cNvPr id="13" name="Text 11"/>
          <p:cNvSpPr/>
          <p:nvPr/>
        </p:nvSpPr>
        <p:spPr>
          <a:xfrm>
            <a:off x="2331720" y="22219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1: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86200" y="2185416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8C99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277063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2: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86200" y="2734056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8C99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31720" y="3319272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E4E9F1"/>
          </a:solidFill>
          <a:ln w="12700">
            <a:solidFill>
              <a:srgbClr val="8C99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31720" y="331927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0" y="3319272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E4E9F1"/>
          </a:solidFill>
          <a:ln w="12700">
            <a:solidFill>
              <a:srgbClr val="8C99A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331927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3319272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E4E9F1"/>
          </a:solidFill>
          <a:ln w="12700">
            <a:solidFill>
              <a:srgbClr val="8C99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331927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60720" y="3319272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E4E9F1"/>
          </a:solidFill>
          <a:ln w="12700">
            <a:solidFill>
              <a:srgbClr val="8C99A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331927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31720" y="40507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86200" y="3995928"/>
            <a:ext cx="2743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9A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07128" y="571500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2A231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07128" y="5715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10 MINUTE CHALLENGE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HANDS-ON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40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181448" y="169164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17223D"/>
          </a:solidFill>
          <a:ln w="12700">
            <a:solidFill>
              <a:srgbClr val="5B6C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81448" y="1691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95848" y="2194560"/>
            <a:ext cx="914" cy="32004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632808" y="2514600"/>
            <a:ext cx="2926080" cy="548640"/>
          </a:xfrm>
          <a:prstGeom prst="roundRect">
            <a:avLst>
              <a:gd name="adj" fmla="val 50000"/>
            </a:avLst>
          </a:prstGeom>
          <a:solidFill>
            <a:srgbClr val="17223D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2808" y="2514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&gt;= 40 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5848" y="3063240"/>
            <a:ext cx="-2194560" cy="548640"/>
          </a:xfrm>
          <a:prstGeom prst="line">
            <a:avLst/>
          </a:prstGeom>
          <a:noFill/>
          <a:ln w="3175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95848" y="3063240"/>
            <a:ext cx="2194560" cy="548640"/>
          </a:xfrm>
          <a:prstGeom prst="line">
            <a:avLst/>
          </a:prstGeom>
          <a:noFill/>
          <a:ln w="31750">
            <a:solidFill>
              <a:srgbClr val="F8717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61208" y="361188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153A2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1208" y="3611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50328" y="361188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3A1717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50328" y="3611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901288" y="4069080"/>
            <a:ext cx="914" cy="365760"/>
          </a:xfrm>
          <a:prstGeom prst="line">
            <a:avLst/>
          </a:prstGeom>
          <a:noFill/>
          <a:ln w="3175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290408" y="4069080"/>
            <a:ext cx="914" cy="365760"/>
          </a:xfrm>
          <a:prstGeom prst="line">
            <a:avLst/>
          </a:prstGeom>
          <a:noFill/>
          <a:ln w="31750">
            <a:solidFill>
              <a:srgbClr val="F8717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078328" y="4480560"/>
            <a:ext cx="1645920" cy="502920"/>
          </a:xfrm>
          <a:prstGeom prst="roundRect">
            <a:avLst>
              <a:gd name="adj" fmla="val 50000"/>
            </a:avLst>
          </a:prstGeom>
          <a:solidFill>
            <a:srgbClr val="153A2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78328" y="44805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67448" y="4480560"/>
            <a:ext cx="1645920" cy="502920"/>
          </a:xfrm>
          <a:prstGeom prst="roundRect">
            <a:avLst>
              <a:gd name="adj" fmla="val 50000"/>
            </a:avLst>
          </a:prstGeom>
          <a:solidFill>
            <a:srgbClr val="3A1717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67448" y="44805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2920" y="5212080"/>
            <a:ext cx="11185855" cy="1417320"/>
          </a:xfrm>
          <a:prstGeom prst="roundRect">
            <a:avLst>
              <a:gd name="adj" fmla="val 5806"/>
            </a:avLst>
          </a:prstGeom>
          <a:solidFill>
            <a:srgbClr val="0D1526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04088" y="5376672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4" name="Shape 22"/>
          <p:cNvSpPr/>
          <p:nvPr/>
        </p:nvSpPr>
        <p:spPr>
          <a:xfrm>
            <a:off x="905256" y="5376672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5" name="Shape 23"/>
          <p:cNvSpPr/>
          <p:nvPr/>
        </p:nvSpPr>
        <p:spPr>
          <a:xfrm>
            <a:off x="1106424" y="5376672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6" name="Text 24"/>
          <p:cNvSpPr/>
          <p:nvPr/>
        </p:nvSpPr>
        <p:spPr>
          <a:xfrm>
            <a:off x="1417320" y="5303520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Unit1.pas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5669280"/>
            <a:ext cx="10591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35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marks &gt;= 40 </a:t>
            </a:r>
            <a:pPr indent="0" marL="0">
              <a:buNone/>
            </a:pPr>
            <a:r>
              <a:rPr lang="en-US" sz="13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22960" y="5961888"/>
            <a:ext cx="10591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Label1.Caption := </a:t>
            </a:r>
            <a:pPr indent="0" marL="0">
              <a:buNone/>
            </a:pPr>
            <a:r>
              <a:rPr lang="en-US" sz="1350" dirty="0">
                <a:solidFill>
                  <a:srgbClr val="F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'PASS'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22960" y="6254496"/>
            <a:ext cx="10591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35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Label1.Caption := </a:t>
            </a:r>
            <a:pPr indent="0" marL="0">
              <a:buNone/>
            </a:pPr>
            <a:r>
              <a:rPr lang="en-US" sz="1350" dirty="0">
                <a:solidFill>
                  <a:srgbClr val="F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'FAIL'</a:t>
            </a:r>
            <a:pPr indent="0" marL="0">
              <a:buNone/>
            </a:pPr>
            <a:r>
              <a:rPr lang="en-US" sz="135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DECISIONS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40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Conditions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874520" y="1600200"/>
            <a:ext cx="8442655" cy="530352"/>
          </a:xfrm>
          <a:prstGeom prst="roundRect">
            <a:avLst>
              <a:gd name="adj" fmla="val 13793"/>
            </a:avLst>
          </a:prstGeom>
          <a:solidFill>
            <a:srgbClr val="17223D"/>
          </a:solidFill>
          <a:ln w="25400">
            <a:solidFill>
              <a:srgbClr val="4AD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40280" y="160020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90+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30088" y="1600200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945575" y="1673352"/>
            <a:ext cx="1005840" cy="384048"/>
          </a:xfrm>
          <a:prstGeom prst="roundRect">
            <a:avLst>
              <a:gd name="adj" fmla="val 47619"/>
            </a:avLst>
          </a:prstGeom>
          <a:solidFill>
            <a:srgbClr val="4ADE80"/>
          </a:solidFill>
          <a:ln/>
        </p:spPr>
      </p:sp>
      <p:sp>
        <p:nvSpPr>
          <p:cNvPr id="9" name="Text 7"/>
          <p:cNvSpPr/>
          <p:nvPr/>
        </p:nvSpPr>
        <p:spPr>
          <a:xfrm>
            <a:off x="8945575" y="167335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874520" y="2221992"/>
            <a:ext cx="8442655" cy="530352"/>
          </a:xfrm>
          <a:prstGeom prst="roundRect">
            <a:avLst>
              <a:gd name="adj" fmla="val 13793"/>
            </a:avLst>
          </a:prstGeom>
          <a:solidFill>
            <a:srgbClr val="17223D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2221992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75+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30088" y="2221992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945575" y="2295144"/>
            <a:ext cx="1005840" cy="384048"/>
          </a:xfrm>
          <a:prstGeom prst="roundRect">
            <a:avLst>
              <a:gd name="adj" fmla="val 47619"/>
            </a:avLst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8945575" y="229514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874520" y="2843784"/>
            <a:ext cx="8442655" cy="530352"/>
          </a:xfrm>
          <a:prstGeom prst="roundRect">
            <a:avLst>
              <a:gd name="adj" fmla="val 13793"/>
            </a:avLst>
          </a:prstGeom>
          <a:solidFill>
            <a:srgbClr val="17223D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0280" y="2843784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60+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30088" y="2843784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945575" y="2916936"/>
            <a:ext cx="1005840" cy="384048"/>
          </a:xfrm>
          <a:prstGeom prst="roundRect">
            <a:avLst>
              <a:gd name="adj" fmla="val 47619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8945575" y="291693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874520" y="3465576"/>
            <a:ext cx="8442655" cy="530352"/>
          </a:xfrm>
          <a:prstGeom prst="roundRect">
            <a:avLst>
              <a:gd name="adj" fmla="val 13793"/>
            </a:avLst>
          </a:prstGeom>
          <a:solidFill>
            <a:srgbClr val="17223D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40280" y="3465576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40+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30088" y="3465576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945575" y="3538728"/>
            <a:ext cx="1005840" cy="384048"/>
          </a:xfrm>
          <a:prstGeom prst="roundRect">
            <a:avLst>
              <a:gd name="adj" fmla="val 47619"/>
            </a:avLst>
          </a:prstGeom>
          <a:solidFill>
            <a:srgbClr val="FBBF24"/>
          </a:solidFill>
          <a:ln/>
        </p:spPr>
      </p:sp>
      <p:sp>
        <p:nvSpPr>
          <p:cNvPr id="24" name="Text 22"/>
          <p:cNvSpPr/>
          <p:nvPr/>
        </p:nvSpPr>
        <p:spPr>
          <a:xfrm>
            <a:off x="8945575" y="353872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874520" y="4087368"/>
            <a:ext cx="8442655" cy="530352"/>
          </a:xfrm>
          <a:prstGeom prst="roundRect">
            <a:avLst>
              <a:gd name="adj" fmla="val 13793"/>
            </a:avLst>
          </a:prstGeom>
          <a:solidFill>
            <a:srgbClr val="17223D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40280" y="408736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40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30088" y="4087368"/>
            <a:ext cx="731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945575" y="4160520"/>
            <a:ext cx="1005840" cy="384048"/>
          </a:xfrm>
          <a:prstGeom prst="roundRect">
            <a:avLst>
              <a:gd name="adj" fmla="val 47619"/>
            </a:avLst>
          </a:prstGeom>
          <a:solidFill>
            <a:srgbClr val="F87171"/>
          </a:solidFill>
          <a:ln/>
        </p:spPr>
      </p:sp>
      <p:sp>
        <p:nvSpPr>
          <p:cNvPr id="29" name="Text 27"/>
          <p:cNvSpPr/>
          <p:nvPr/>
        </p:nvSpPr>
        <p:spPr>
          <a:xfrm>
            <a:off x="8945575" y="41605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02920" y="4800600"/>
            <a:ext cx="11185855" cy="960120"/>
          </a:xfrm>
          <a:prstGeom prst="roundRect">
            <a:avLst>
              <a:gd name="adj" fmla="val 8571"/>
            </a:avLst>
          </a:prstGeom>
          <a:solidFill>
            <a:srgbClr val="0D1526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04088" y="4965192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2" name="Shape 30"/>
          <p:cNvSpPr/>
          <p:nvPr/>
        </p:nvSpPr>
        <p:spPr>
          <a:xfrm>
            <a:off x="905256" y="4965192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3" name="Shape 31"/>
          <p:cNvSpPr/>
          <p:nvPr/>
        </p:nvSpPr>
        <p:spPr>
          <a:xfrm>
            <a:off x="1106424" y="4965192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5257800"/>
            <a:ext cx="1059149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marks &gt;= 90 </a:t>
            </a:r>
            <a:pPr indent="0" marL="0">
              <a:buNone/>
            </a:pPr>
            <a:r>
              <a:rPr lang="en-US" sz="12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buNone/>
            </a:pPr>
            <a:r>
              <a:rPr lang="en-US" sz="125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grade := </a:t>
            </a:r>
            <a:pPr indent="0" marL="0">
              <a:buNone/>
            </a:pPr>
            <a:r>
              <a:rPr lang="en-US" sz="1250" dirty="0">
                <a:solidFill>
                  <a:srgbClr val="F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22960" y="5559552"/>
            <a:ext cx="1059149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</a:t>
            </a:r>
            <a:pPr indent="0" marL="0">
              <a:buNone/>
            </a:pPr>
            <a:r>
              <a:rPr lang="en-US" sz="125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marks &gt;= 75 </a:t>
            </a:r>
            <a:pPr indent="0" marL="0">
              <a:buNone/>
            </a:pPr>
            <a:r>
              <a:rPr lang="en-US" sz="12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buNone/>
            </a:pPr>
            <a:r>
              <a:rPr lang="en-US" sz="125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grade := </a:t>
            </a:r>
            <a:pPr indent="0" marL="0">
              <a:buNone/>
            </a:pPr>
            <a:r>
              <a:rPr lang="en-US" sz="1250" dirty="0">
                <a:solidFill>
                  <a:srgbClr val="F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'B'</a:t>
            </a:r>
            <a:pPr indent="0" marL="0">
              <a:buNone/>
            </a:pPr>
            <a:r>
              <a:rPr lang="en-US" sz="1250" dirty="0">
                <a:solidFill>
                  <a:srgbClr val="5C75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DECISIONS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40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Project: Grade Checker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240280" y="1600200"/>
            <a:ext cx="7711135" cy="4297680"/>
          </a:xfrm>
          <a:prstGeom prst="roundRect">
            <a:avLst>
              <a:gd name="adj" fmla="val 1489"/>
            </a:avLst>
          </a:prstGeom>
          <a:solidFill>
            <a:srgbClr val="0D1526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40280" y="1600200"/>
            <a:ext cx="7711135" cy="347472"/>
          </a:xfrm>
          <a:prstGeom prst="roundRect">
            <a:avLst>
              <a:gd name="adj" fmla="val 18421"/>
            </a:avLst>
          </a:prstGeom>
          <a:solidFill>
            <a:srgbClr val="17223D"/>
          </a:solidFill>
          <a:ln/>
        </p:spPr>
      </p:sp>
      <p:sp>
        <p:nvSpPr>
          <p:cNvPr id="7" name="Shape 5"/>
          <p:cNvSpPr/>
          <p:nvPr/>
        </p:nvSpPr>
        <p:spPr>
          <a:xfrm>
            <a:off x="2240280" y="1773936"/>
            <a:ext cx="7711135" cy="173736"/>
          </a:xfrm>
          <a:prstGeom prst="rect">
            <a:avLst/>
          </a:prstGeom>
          <a:solidFill>
            <a:srgbClr val="17223D"/>
          </a:solidFill>
          <a:ln/>
        </p:spPr>
      </p:sp>
      <p:sp>
        <p:nvSpPr>
          <p:cNvPr id="8" name="Shape 6"/>
          <p:cNvSpPr/>
          <p:nvPr/>
        </p:nvSpPr>
        <p:spPr>
          <a:xfrm>
            <a:off x="2404872" y="1719072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9" name="Shape 7"/>
          <p:cNvSpPr/>
          <p:nvPr/>
        </p:nvSpPr>
        <p:spPr>
          <a:xfrm>
            <a:off x="2587752" y="1719072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Shape 8"/>
          <p:cNvSpPr/>
          <p:nvPr/>
        </p:nvSpPr>
        <p:spPr>
          <a:xfrm>
            <a:off x="2770632" y="1719072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1" name="Text 9"/>
          <p:cNvSpPr/>
          <p:nvPr/>
        </p:nvSpPr>
        <p:spPr>
          <a:xfrm>
            <a:off x="3063240" y="1636776"/>
            <a:ext cx="6705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GradeChecker.pas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40280" y="1947672"/>
            <a:ext cx="7711135" cy="3950208"/>
          </a:xfrm>
          <a:prstGeom prst="rect">
            <a:avLst/>
          </a:prstGeom>
          <a:solidFill>
            <a:srgbClr val="E9EDF4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2130552"/>
            <a:ext cx="7162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GRADE CHECKER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60320" y="267919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94760" y="2642616"/>
            <a:ext cx="3017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9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32278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Marks: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94760" y="3191256"/>
            <a:ext cx="3017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9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382219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94760" y="3758184"/>
            <a:ext cx="822960" cy="457200"/>
          </a:xfrm>
          <a:prstGeom prst="roundRect">
            <a:avLst>
              <a:gd name="adj" fmla="val 60000"/>
            </a:avLst>
          </a:prstGeom>
          <a:solidFill>
            <a:srgbClr val="4ADE80"/>
          </a:solidFill>
          <a:ln/>
        </p:spPr>
      </p:sp>
      <p:sp>
        <p:nvSpPr>
          <p:cNvPr id="20" name="Text 18"/>
          <p:cNvSpPr/>
          <p:nvPr/>
        </p:nvSpPr>
        <p:spPr>
          <a:xfrm>
            <a:off x="3794760" y="375818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560320" y="44622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94760" y="44165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9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HANDS-ON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40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318608" cy="3108960"/>
          </a:xfrm>
          <a:prstGeom prst="roundRect">
            <a:avLst>
              <a:gd name="adj" fmla="val 2647"/>
            </a:avLst>
          </a:prstGeom>
          <a:solidFill>
            <a:srgbClr val="121B31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920240"/>
            <a:ext cx="531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LOOP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5318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5318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017520"/>
            <a:ext cx="5318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337560"/>
            <a:ext cx="5318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657600"/>
            <a:ext cx="5318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977640"/>
            <a:ext cx="5318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297680"/>
            <a:ext cx="5318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70168" y="1737360"/>
            <a:ext cx="5318608" cy="3108960"/>
          </a:xfrm>
          <a:prstGeom prst="roundRect">
            <a:avLst>
              <a:gd name="adj" fmla="val 2647"/>
            </a:avLst>
          </a:prstGeom>
          <a:solidFill>
            <a:srgbClr val="121B31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70168" y="1920240"/>
            <a:ext cx="531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LOOP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27368" y="2651760"/>
            <a:ext cx="4404208" cy="731520"/>
          </a:xfrm>
          <a:prstGeom prst="roundRect">
            <a:avLst>
              <a:gd name="adj" fmla="val 10000"/>
            </a:avLst>
          </a:prstGeom>
          <a:solidFill>
            <a:srgbClr val="17223D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27368" y="2651760"/>
            <a:ext cx="44042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:= 1 to 100 do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35928" y="3657600"/>
            <a:ext cx="458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repeats the task 100 times.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51206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 TASK WITHOUT REPEATING THE CODE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REPETITION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40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 Loop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85855" cy="1280160"/>
          </a:xfrm>
          <a:prstGeom prst="roundRect">
            <a:avLst>
              <a:gd name="adj" fmla="val 6429"/>
            </a:avLst>
          </a:prstGeom>
          <a:solidFill>
            <a:srgbClr val="0D1526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901952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1901952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106424" y="1901952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1828800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Unit1.pas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194560"/>
            <a:ext cx="10591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7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:= 1 </a:t>
            </a:r>
            <a:pPr indent="0" marL="0">
              <a:buNone/>
            </a:pPr>
            <a:r>
              <a:rPr lang="en-US" sz="17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buNone/>
            </a:pPr>
            <a:r>
              <a:rPr lang="en-US" sz="17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 </a:t>
            </a:r>
            <a:pPr indent="0" marL="0">
              <a:buNone/>
            </a:pPr>
            <a:r>
              <a:rPr lang="en-US" sz="17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2578608"/>
            <a:ext cx="10591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Memo1.Lines.Add(IntToStr(i));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PASS, i COUNTS UP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657600"/>
            <a:ext cx="953994" cy="822960"/>
          </a:xfrm>
          <a:prstGeom prst="roundRect">
            <a:avLst>
              <a:gd name="adj" fmla="val 8889"/>
            </a:avLst>
          </a:prstGeom>
          <a:solidFill>
            <a:srgbClr val="17223D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657600"/>
            <a:ext cx="95399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56914" y="3657600"/>
            <a:ext cx="18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39794" y="3657600"/>
            <a:ext cx="953994" cy="822960"/>
          </a:xfrm>
          <a:prstGeom prst="roundRect">
            <a:avLst>
              <a:gd name="adj" fmla="val 8889"/>
            </a:avLst>
          </a:prstGeom>
          <a:solidFill>
            <a:srgbClr val="17223D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39794" y="3657600"/>
            <a:ext cx="95399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93787" y="3657600"/>
            <a:ext cx="18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76667" y="3657600"/>
            <a:ext cx="953994" cy="822960"/>
          </a:xfrm>
          <a:prstGeom prst="roundRect">
            <a:avLst>
              <a:gd name="adj" fmla="val 8889"/>
            </a:avLst>
          </a:prstGeom>
          <a:solidFill>
            <a:srgbClr val="17223D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76667" y="3657600"/>
            <a:ext cx="95399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730661" y="3657600"/>
            <a:ext cx="18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913541" y="3657600"/>
            <a:ext cx="953994" cy="822960"/>
          </a:xfrm>
          <a:prstGeom prst="roundRect">
            <a:avLst>
              <a:gd name="adj" fmla="val 8889"/>
            </a:avLst>
          </a:prstGeom>
          <a:solidFill>
            <a:srgbClr val="17223D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13541" y="3657600"/>
            <a:ext cx="95399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67534" y="3657600"/>
            <a:ext cx="18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50414" y="3657600"/>
            <a:ext cx="953994" cy="822960"/>
          </a:xfrm>
          <a:prstGeom prst="roundRect">
            <a:avLst>
              <a:gd name="adj" fmla="val 8889"/>
            </a:avLst>
          </a:prstGeom>
          <a:solidFill>
            <a:srgbClr val="17223D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50414" y="3657600"/>
            <a:ext cx="95399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04408" y="3657600"/>
            <a:ext cx="18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87288" y="3657600"/>
            <a:ext cx="953994" cy="822960"/>
          </a:xfrm>
          <a:prstGeom prst="roundRect">
            <a:avLst>
              <a:gd name="adj" fmla="val 8889"/>
            </a:avLst>
          </a:prstGeom>
          <a:solidFill>
            <a:srgbClr val="17223D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87288" y="3657600"/>
            <a:ext cx="95399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41281" y="3657600"/>
            <a:ext cx="18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24161" y="3657600"/>
            <a:ext cx="953994" cy="822960"/>
          </a:xfrm>
          <a:prstGeom prst="roundRect">
            <a:avLst>
              <a:gd name="adj" fmla="val 8889"/>
            </a:avLst>
          </a:prstGeom>
          <a:solidFill>
            <a:srgbClr val="17223D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24161" y="3657600"/>
            <a:ext cx="95399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78155" y="3657600"/>
            <a:ext cx="18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461035" y="3657600"/>
            <a:ext cx="953994" cy="822960"/>
          </a:xfrm>
          <a:prstGeom prst="roundRect">
            <a:avLst>
              <a:gd name="adj" fmla="val 8889"/>
            </a:avLst>
          </a:prstGeom>
          <a:solidFill>
            <a:srgbClr val="17223D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61035" y="3657600"/>
            <a:ext cx="95399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415028" y="3657600"/>
            <a:ext cx="18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597908" y="3657600"/>
            <a:ext cx="953994" cy="822960"/>
          </a:xfrm>
          <a:prstGeom prst="roundRect">
            <a:avLst>
              <a:gd name="adj" fmla="val 8889"/>
            </a:avLst>
          </a:prstGeom>
          <a:solidFill>
            <a:srgbClr val="17223D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597908" y="3657600"/>
            <a:ext cx="95399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551902" y="3657600"/>
            <a:ext cx="18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0734782" y="3657600"/>
            <a:ext cx="953994" cy="822960"/>
          </a:xfrm>
          <a:prstGeom prst="roundRect">
            <a:avLst>
              <a:gd name="adj" fmla="val 8889"/>
            </a:avLst>
          </a:prstGeom>
          <a:solidFill>
            <a:srgbClr val="153A2E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734782" y="3657600"/>
            <a:ext cx="95399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02920" y="4846320"/>
            <a:ext cx="11185855" cy="1051560"/>
          </a:xfrm>
          <a:prstGeom prst="roundRect">
            <a:avLst>
              <a:gd name="adj" fmla="val 7826"/>
            </a:avLst>
          </a:prstGeom>
          <a:solidFill>
            <a:srgbClr val="121B31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22960" y="50292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time through the loop, the code adds the current value of i to the memo — one line per pass.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REPETITION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40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&amp; Repeat Until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318608" cy="1920240"/>
          </a:xfrm>
          <a:prstGeom prst="roundRect">
            <a:avLst>
              <a:gd name="adj" fmla="val 4286"/>
            </a:avLst>
          </a:prstGeom>
          <a:solidFill>
            <a:srgbClr val="0D1526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901952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1901952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106424" y="1901952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1828800"/>
            <a:ext cx="422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194560"/>
            <a:ext cx="4724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5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condition </a:t>
            </a:r>
            <a:pPr indent="0" marL="0">
              <a:buNone/>
            </a:pPr>
            <a:r>
              <a:rPr lang="en-US" sz="15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523744"/>
            <a:ext cx="4724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2852928"/>
            <a:ext cx="4724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75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182112"/>
            <a:ext cx="4724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70168" y="1737360"/>
            <a:ext cx="5318608" cy="1920240"/>
          </a:xfrm>
          <a:prstGeom prst="roundRect">
            <a:avLst>
              <a:gd name="adj" fmla="val 4286"/>
            </a:avLst>
          </a:prstGeom>
          <a:solidFill>
            <a:srgbClr val="0D1526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71336" y="1901952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6" name="Shape 14"/>
          <p:cNvSpPr/>
          <p:nvPr/>
        </p:nvSpPr>
        <p:spPr>
          <a:xfrm>
            <a:off x="6772504" y="1901952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7" name="Shape 15"/>
          <p:cNvSpPr/>
          <p:nvPr/>
        </p:nvSpPr>
        <p:spPr>
          <a:xfrm>
            <a:off x="6973672" y="1901952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8" name="Text 16"/>
          <p:cNvSpPr/>
          <p:nvPr/>
        </p:nvSpPr>
        <p:spPr>
          <a:xfrm>
            <a:off x="7284568" y="1828800"/>
            <a:ext cx="422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90208" y="2194560"/>
            <a:ext cx="4724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90208" y="2523744"/>
            <a:ext cx="4724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75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90208" y="2852928"/>
            <a:ext cx="4724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until</a:t>
            </a:r>
            <a:pPr indent="0" marL="0">
              <a:buNone/>
            </a:pPr>
            <a:r>
              <a:rPr lang="en-US" sz="15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condition;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" y="388620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checks first, then runs. REPEAT runs first, then checks.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947008" y="4480560"/>
            <a:ext cx="2011680" cy="685800"/>
          </a:xfrm>
          <a:prstGeom prst="roundRect">
            <a:avLst>
              <a:gd name="adj" fmla="val 9333"/>
            </a:avLst>
          </a:prstGeom>
          <a:solidFill>
            <a:srgbClr val="17223D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47008" y="4480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58688" y="4823460"/>
            <a:ext cx="457200" cy="914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15888" y="4480560"/>
            <a:ext cx="2011680" cy="685800"/>
          </a:xfrm>
          <a:prstGeom prst="roundRect">
            <a:avLst>
              <a:gd name="adj" fmla="val 9333"/>
            </a:avLst>
          </a:prstGeom>
          <a:solidFill>
            <a:srgbClr val="153A2E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15888" y="4480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REPETITION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40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Challenge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1185855" cy="1371600"/>
          </a:xfrm>
          <a:prstGeom prst="roundRect">
            <a:avLst>
              <a:gd name="adj" fmla="val 6000"/>
            </a:avLst>
          </a:prstGeom>
          <a:solidFill>
            <a:srgbClr val="121B31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920240"/>
            <a:ext cx="1834835" cy="914400"/>
          </a:xfrm>
          <a:prstGeom prst="roundRect">
            <a:avLst>
              <a:gd name="adj" fmla="val 8000"/>
            </a:avLst>
          </a:prstGeom>
          <a:solidFill>
            <a:srgbClr val="17223D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20240"/>
            <a:ext cx="18348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069275" y="1920240"/>
            <a:ext cx="1834835" cy="914400"/>
          </a:xfrm>
          <a:prstGeom prst="roundRect">
            <a:avLst>
              <a:gd name="adj" fmla="val 8000"/>
            </a:avLst>
          </a:prstGeom>
          <a:solidFill>
            <a:srgbClr val="17223D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9275" y="1920240"/>
            <a:ext cx="18348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78430" y="1920240"/>
            <a:ext cx="1834835" cy="914400"/>
          </a:xfrm>
          <a:prstGeom prst="roundRect">
            <a:avLst>
              <a:gd name="adj" fmla="val 8000"/>
            </a:avLst>
          </a:prstGeom>
          <a:solidFill>
            <a:srgbClr val="17223D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78430" y="1920240"/>
            <a:ext cx="18348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287585" y="1920240"/>
            <a:ext cx="1834835" cy="914400"/>
          </a:xfrm>
          <a:prstGeom prst="roundRect">
            <a:avLst>
              <a:gd name="adj" fmla="val 8000"/>
            </a:avLst>
          </a:prstGeom>
          <a:solidFill>
            <a:srgbClr val="17223D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87585" y="1920240"/>
            <a:ext cx="18348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396740" y="1920240"/>
            <a:ext cx="1834835" cy="914400"/>
          </a:xfrm>
          <a:prstGeom prst="roundRect">
            <a:avLst>
              <a:gd name="adj" fmla="val 8000"/>
            </a:avLst>
          </a:prstGeom>
          <a:solidFill>
            <a:srgbClr val="17223D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96740" y="1920240"/>
            <a:ext cx="18348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2920" y="3383280"/>
            <a:ext cx="11185855" cy="1737360"/>
          </a:xfrm>
          <a:prstGeom prst="roundRect">
            <a:avLst>
              <a:gd name="adj" fmla="val 4737"/>
            </a:avLst>
          </a:prstGeom>
          <a:solidFill>
            <a:srgbClr val="17223D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56616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CHALLENGE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931920"/>
            <a:ext cx="10454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multiplication table of 5.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68680" y="4480560"/>
            <a:ext cx="10454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× 1 = 5      5 × 2 = 10      5 × 3 = 15      ...      5 × 10 = 50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90008" y="53949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2A231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90008" y="5394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CHALLENGE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HANDS-ON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40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CODE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 &amp; Functions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1185855" cy="1371600"/>
          </a:xfrm>
          <a:prstGeom prst="roundRect">
            <a:avLst>
              <a:gd name="adj" fmla="val 6000"/>
            </a:avLst>
          </a:prstGeom>
          <a:solidFill>
            <a:srgbClr val="0D1526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856232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1856232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106424" y="1856232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1783080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Procedure — does something, returns nothing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148840"/>
            <a:ext cx="10591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procedure</a:t>
            </a:r>
            <a:pPr indent="0" marL="0">
              <a:buNone/>
            </a:pPr>
            <a:r>
              <a:rPr lang="en-US" sz="14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SayHello;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423160"/>
            <a:ext cx="10591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697480"/>
            <a:ext cx="10591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Label1.Caption := </a:t>
            </a:r>
            <a:pPr indent="0" marL="0">
              <a:buNone/>
            </a:pPr>
            <a:r>
              <a:rPr lang="en-US" sz="1400" dirty="0">
                <a:solidFill>
                  <a:srgbClr val="F0A8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'Hello!'</a:t>
            </a:r>
            <a:pPr indent="0" marL="0">
              <a:buNone/>
            </a:pPr>
            <a:r>
              <a:rPr lang="en-US" sz="14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971800"/>
            <a:ext cx="10591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246120"/>
            <a:ext cx="11185855" cy="1371600"/>
          </a:xfrm>
          <a:prstGeom prst="roundRect">
            <a:avLst>
              <a:gd name="adj" fmla="val 6000"/>
            </a:avLst>
          </a:prstGeom>
          <a:solidFill>
            <a:srgbClr val="0D1526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4088" y="3410712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6" name="Shape 14"/>
          <p:cNvSpPr/>
          <p:nvPr/>
        </p:nvSpPr>
        <p:spPr>
          <a:xfrm>
            <a:off x="905256" y="3410712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7" name="Shape 15"/>
          <p:cNvSpPr/>
          <p:nvPr/>
        </p:nvSpPr>
        <p:spPr>
          <a:xfrm>
            <a:off x="1106424" y="3410712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8" name="Text 16"/>
          <p:cNvSpPr/>
          <p:nvPr/>
        </p:nvSpPr>
        <p:spPr>
          <a:xfrm>
            <a:off x="1417320" y="3337560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— does something, returns a value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703320"/>
            <a:ext cx="10591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4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AddNumbers(a, b: </a:t>
            </a:r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buNone/>
            </a:pPr>
            <a:r>
              <a:rPr lang="en-US" sz="14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</a:t>
            </a:r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buNone/>
            </a:pPr>
            <a:r>
              <a:rPr lang="en-US" sz="14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977640"/>
            <a:ext cx="10591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4251960"/>
            <a:ext cx="10591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Result := a + b;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4526280"/>
            <a:ext cx="10591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078328" y="489204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17223D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78328" y="4892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07128" y="5212080"/>
            <a:ext cx="594360" cy="914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501488" y="489204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17223D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01488" y="4892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30288" y="5212080"/>
            <a:ext cx="594360" cy="914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924648" y="489204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153A2E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24648" y="4892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REUSABLE CODE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40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CODE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&amp; Classes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849728" y="1691640"/>
            <a:ext cx="3017520" cy="868680"/>
          </a:xfrm>
          <a:prstGeom prst="roundRect">
            <a:avLst>
              <a:gd name="adj" fmla="val 7368"/>
            </a:avLst>
          </a:prstGeom>
          <a:solidFill>
            <a:srgbClr val="17223D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49728" y="169164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67248" y="2125980"/>
            <a:ext cx="731520" cy="914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598768" y="1691640"/>
            <a:ext cx="3017520" cy="868680"/>
          </a:xfrm>
          <a:prstGeom prst="roundRect">
            <a:avLst>
              <a:gd name="adj" fmla="val 7368"/>
            </a:avLst>
          </a:prstGeom>
          <a:solidFill>
            <a:srgbClr val="153A2E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98768" y="169164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instance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5318608" cy="2651760"/>
          </a:xfrm>
          <a:prstGeom prst="roundRect">
            <a:avLst>
              <a:gd name="adj" fmla="val 3103"/>
            </a:avLst>
          </a:prstGeom>
          <a:solidFill>
            <a:srgbClr val="121B31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200400"/>
            <a:ext cx="5318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🚗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02920" y="3794760"/>
            <a:ext cx="531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4251960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Properties: Color, Speed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4617720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Method: Drive()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70168" y="3063240"/>
            <a:ext cx="5318608" cy="2651760"/>
          </a:xfrm>
          <a:prstGeom prst="roundRect">
            <a:avLst>
              <a:gd name="adj" fmla="val 3103"/>
            </a:avLst>
          </a:prstGeom>
          <a:solidFill>
            <a:srgbClr val="121B31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70168" y="3200400"/>
            <a:ext cx="5318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🔘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370168" y="3794760"/>
            <a:ext cx="531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35928" y="4251960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Property: Caption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735928" y="4617720"/>
            <a:ext cx="458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Event: OnClick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REUSABLE CODE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40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CODE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+ Method + Event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3423818" cy="2194560"/>
          </a:xfrm>
          <a:prstGeom prst="roundRect">
            <a:avLst>
              <a:gd name="adj" fmla="val 3750"/>
            </a:avLst>
          </a:prstGeom>
          <a:solidFill>
            <a:srgbClr val="121B31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331720"/>
            <a:ext cx="34238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2880360"/>
            <a:ext cx="2509418" cy="685800"/>
          </a:xfrm>
          <a:prstGeom prst="roundRect">
            <a:avLst>
              <a:gd name="adj" fmla="val 12000"/>
            </a:avLst>
          </a:prstGeom>
          <a:solidFill>
            <a:srgbClr val="17223D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880360"/>
            <a:ext cx="250941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26738" y="3200400"/>
            <a:ext cx="457200" cy="914"/>
          </a:xfrm>
          <a:prstGeom prst="line">
            <a:avLst/>
          </a:prstGeom>
          <a:noFill/>
          <a:ln w="25400">
            <a:solidFill>
              <a:srgbClr val="5B6C8C"/>
            </a:solidFill>
            <a:prstDash val="dash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83938" y="2103120"/>
            <a:ext cx="3423818" cy="2194560"/>
          </a:xfrm>
          <a:prstGeom prst="roundRect">
            <a:avLst>
              <a:gd name="adj" fmla="val 3750"/>
            </a:avLst>
          </a:prstGeom>
          <a:solidFill>
            <a:srgbClr val="121B31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3938" y="2331720"/>
            <a:ext cx="34238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41138" y="2880360"/>
            <a:ext cx="2509418" cy="685800"/>
          </a:xfrm>
          <a:prstGeom prst="roundRect">
            <a:avLst>
              <a:gd name="adj" fmla="val 12000"/>
            </a:avLst>
          </a:prstGeom>
          <a:solidFill>
            <a:srgbClr val="17223D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1138" y="2880360"/>
            <a:ext cx="250941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Move()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07757" y="3200400"/>
            <a:ext cx="457200" cy="914"/>
          </a:xfrm>
          <a:prstGeom prst="line">
            <a:avLst/>
          </a:prstGeom>
          <a:noFill/>
          <a:ln w="25400">
            <a:solidFill>
              <a:srgbClr val="5B6C8C"/>
            </a:solidFill>
            <a:prstDash val="dash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64957" y="2103120"/>
            <a:ext cx="3423818" cy="2194560"/>
          </a:xfrm>
          <a:prstGeom prst="roundRect">
            <a:avLst>
              <a:gd name="adj" fmla="val 3750"/>
            </a:avLst>
          </a:prstGeom>
          <a:solidFill>
            <a:srgbClr val="121B31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64957" y="2331720"/>
            <a:ext cx="34238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722157" y="2880360"/>
            <a:ext cx="2509418" cy="685800"/>
          </a:xfrm>
          <a:prstGeom prst="roundRect">
            <a:avLst>
              <a:gd name="adj" fmla="val 12000"/>
            </a:avLst>
          </a:prstGeom>
          <a:solidFill>
            <a:srgbClr val="17223D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22157" y="2880360"/>
            <a:ext cx="250941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46634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they define how a component looks, acts, and responds.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REUSABLE CODE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40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GAME PROJECT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Ball Game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11185855" cy="4023360"/>
          </a:xfrm>
          <a:prstGeom prst="roundRect">
            <a:avLst>
              <a:gd name="adj" fmla="val 2045"/>
            </a:avLst>
          </a:prstGeom>
          <a:solidFill>
            <a:srgbClr val="060A14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38648" y="3017520"/>
            <a:ext cx="914400" cy="914400"/>
          </a:xfrm>
          <a:prstGeom prst="ellipse">
            <a:avLst/>
          </a:prstGeom>
          <a:solidFill>
            <a:srgbClr val="22D3EE">
              <a:alpha val="85000"/>
            </a:srgbClr>
          </a:solidFill>
          <a:ln w="25400">
            <a:solidFill>
              <a:srgbClr val="9DE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21528" y="3200400"/>
            <a:ext cx="548640" cy="548640"/>
          </a:xfrm>
          <a:prstGeom prst="ellipse">
            <a:avLst/>
          </a:prstGeom>
          <a:solidFill>
            <a:srgbClr val="E9FEFF"/>
          </a:solidFill>
          <a:ln/>
        </p:spPr>
      </p:sp>
      <p:sp>
        <p:nvSpPr>
          <p:cNvPr id="8" name="Shape 6"/>
          <p:cNvSpPr/>
          <p:nvPr/>
        </p:nvSpPr>
        <p:spPr>
          <a:xfrm>
            <a:off x="1691640" y="4251960"/>
            <a:ext cx="548640" cy="411480"/>
          </a:xfrm>
          <a:prstGeom prst="roundRect">
            <a:avLst>
              <a:gd name="adj" fmla="val 15556"/>
            </a:avLst>
          </a:prstGeom>
          <a:solidFill>
            <a:srgbClr val="17223D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42519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691640" y="5212080"/>
            <a:ext cx="548640" cy="411480"/>
          </a:xfrm>
          <a:prstGeom prst="roundRect">
            <a:avLst>
              <a:gd name="adj" fmla="val 15556"/>
            </a:avLst>
          </a:prstGeom>
          <a:solidFill>
            <a:srgbClr val="17223D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52120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88720" y="4732020"/>
            <a:ext cx="548640" cy="411480"/>
          </a:xfrm>
          <a:prstGeom prst="roundRect">
            <a:avLst>
              <a:gd name="adj" fmla="val 15556"/>
            </a:avLst>
          </a:prstGeom>
          <a:solidFill>
            <a:srgbClr val="17223D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7320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194560" y="4732020"/>
            <a:ext cx="548640" cy="411480"/>
          </a:xfrm>
          <a:prstGeom prst="roundRect">
            <a:avLst>
              <a:gd name="adj" fmla="val 15556"/>
            </a:avLst>
          </a:prstGeom>
          <a:solidFill>
            <a:srgbClr val="17223D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47320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45575" y="466344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17223D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45575" y="46634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000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11335" y="53492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3A1717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11335" y="5349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MINI GAME PROJECT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40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GAME PROJECT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Movement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6400800" cy="3383280"/>
          </a:xfrm>
          <a:prstGeom prst="roundRect">
            <a:avLst>
              <a:gd name="adj" fmla="val 2432"/>
            </a:avLst>
          </a:prstGeom>
          <a:solidFill>
            <a:srgbClr val="060A14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65960" y="3108960"/>
            <a:ext cx="640080" cy="640080"/>
          </a:xfrm>
          <a:prstGeom prst="ellipse">
            <a:avLst/>
          </a:prstGeom>
          <a:solidFill>
            <a:srgbClr val="22D3EE">
              <a:alpha val="25000"/>
            </a:srgbClr>
          </a:solidFill>
          <a:ln w="6350">
            <a:solidFill>
              <a:srgbClr val="9DE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0" y="2651760"/>
            <a:ext cx="640080" cy="640080"/>
          </a:xfrm>
          <a:prstGeom prst="ellipse">
            <a:avLst/>
          </a:prstGeom>
          <a:solidFill>
            <a:srgbClr val="22D3EE">
              <a:alpha val="45000"/>
            </a:srgbClr>
          </a:solidFill>
          <a:ln w="6350">
            <a:solidFill>
              <a:srgbClr val="9DE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4760" y="2194560"/>
            <a:ext cx="640080" cy="64008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9DE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3429000"/>
            <a:ext cx="1508760" cy="-1051560"/>
          </a:xfrm>
          <a:prstGeom prst="line">
            <a:avLst/>
          </a:prstGeom>
          <a:noFill/>
          <a:ln w="25400">
            <a:solidFill>
              <a:srgbClr val="22D3EE"/>
            </a:solidFill>
            <a:prstDash val="dash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77240" y="45720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moves the ball up  ·  ▶ moves the ball right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69480" y="1645920"/>
            <a:ext cx="4419295" cy="1600200"/>
          </a:xfrm>
          <a:prstGeom prst="roundRect">
            <a:avLst>
              <a:gd name="adj" fmla="val 5143"/>
            </a:avLst>
          </a:prstGeom>
          <a:solidFill>
            <a:srgbClr val="0D1526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70648" y="1810512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3" name="Shape 11"/>
          <p:cNvSpPr/>
          <p:nvPr/>
        </p:nvSpPr>
        <p:spPr>
          <a:xfrm>
            <a:off x="7671816" y="1810512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4" name="Shape 12"/>
          <p:cNvSpPr/>
          <p:nvPr/>
        </p:nvSpPr>
        <p:spPr>
          <a:xfrm>
            <a:off x="7872984" y="1810512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5" name="Text 13"/>
          <p:cNvSpPr/>
          <p:nvPr/>
        </p:nvSpPr>
        <p:spPr>
          <a:xfrm>
            <a:off x="8183880" y="1737360"/>
            <a:ext cx="33220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Up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589520" y="2103120"/>
            <a:ext cx="38249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Ball.Top := Ball.Top - 10;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269480" y="3429000"/>
            <a:ext cx="4419295" cy="1600200"/>
          </a:xfrm>
          <a:prstGeom prst="roundRect">
            <a:avLst>
              <a:gd name="adj" fmla="val 5143"/>
            </a:avLst>
          </a:prstGeom>
          <a:solidFill>
            <a:srgbClr val="0D1526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70648" y="3593592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9" name="Shape 17"/>
          <p:cNvSpPr/>
          <p:nvPr/>
        </p:nvSpPr>
        <p:spPr>
          <a:xfrm>
            <a:off x="7671816" y="3593592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0" name="Shape 18"/>
          <p:cNvSpPr/>
          <p:nvPr/>
        </p:nvSpPr>
        <p:spPr>
          <a:xfrm>
            <a:off x="7872984" y="3593592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1" name="Text 19"/>
          <p:cNvSpPr/>
          <p:nvPr/>
        </p:nvSpPr>
        <p:spPr>
          <a:xfrm>
            <a:off x="8183880" y="3520440"/>
            <a:ext cx="33220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Right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589520" y="3886200"/>
            <a:ext cx="38249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Ball.Left := Ball.Left + 10;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MINI GAME PROJECT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40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GAME PROJECT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Game Event Flow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901288" y="1554480"/>
            <a:ext cx="4389120" cy="621792"/>
          </a:xfrm>
          <a:prstGeom prst="roundRect">
            <a:avLst>
              <a:gd name="adj" fmla="val 10294"/>
            </a:avLst>
          </a:prstGeom>
          <a:solidFill>
            <a:srgbClr val="17223D"/>
          </a:solidFill>
          <a:ln w="19050">
            <a:solidFill>
              <a:srgbClr val="5B6C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01288" y="1554480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95848" y="2176272"/>
            <a:ext cx="914" cy="201168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901288" y="2377440"/>
            <a:ext cx="4389120" cy="621792"/>
          </a:xfrm>
          <a:prstGeom prst="roundRect">
            <a:avLst>
              <a:gd name="adj" fmla="val 10294"/>
            </a:avLst>
          </a:prstGeom>
          <a:solidFill>
            <a:srgbClr val="17223D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01288" y="2377440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95848" y="2999232"/>
            <a:ext cx="914" cy="201168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901288" y="3200400"/>
            <a:ext cx="4389120" cy="621792"/>
          </a:xfrm>
          <a:prstGeom prst="roundRect">
            <a:avLst>
              <a:gd name="adj" fmla="val 10294"/>
            </a:avLst>
          </a:prstGeom>
          <a:solidFill>
            <a:srgbClr val="17223D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01288" y="3200400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CODE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5848" y="3822192"/>
            <a:ext cx="914" cy="201168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901288" y="4023360"/>
            <a:ext cx="4389120" cy="621792"/>
          </a:xfrm>
          <a:prstGeom prst="roundRect">
            <a:avLst>
              <a:gd name="adj" fmla="val 10294"/>
            </a:avLst>
          </a:prstGeom>
          <a:solidFill>
            <a:srgbClr val="17223D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01288" y="4023360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Ball.Top / Ball.Left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95848" y="4645152"/>
            <a:ext cx="914" cy="201168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901288" y="4846320"/>
            <a:ext cx="4389120" cy="621792"/>
          </a:xfrm>
          <a:prstGeom prst="roundRect">
            <a:avLst>
              <a:gd name="adj" fmla="val 10294"/>
            </a:avLst>
          </a:prstGeom>
          <a:solidFill>
            <a:srgbClr val="153A2E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01288" y="4846320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MOVES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MINI GAME PROJECT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40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GAME PROJECT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Game Features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3484778" cy="1554480"/>
          </a:xfrm>
          <a:prstGeom prst="roundRect">
            <a:avLst>
              <a:gd name="adj" fmla="val 5294"/>
            </a:avLst>
          </a:prstGeom>
          <a:solidFill>
            <a:srgbClr val="121B31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901952"/>
            <a:ext cx="34847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🎮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2651760"/>
            <a:ext cx="34847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53458" y="1737360"/>
            <a:ext cx="3484778" cy="1554480"/>
          </a:xfrm>
          <a:prstGeom prst="roundRect">
            <a:avLst>
              <a:gd name="adj" fmla="val 5294"/>
            </a:avLst>
          </a:prstGeom>
          <a:solidFill>
            <a:srgbClr val="121B31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53458" y="1901952"/>
            <a:ext cx="34847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🏆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353458" y="2651760"/>
            <a:ext cx="34847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03997" y="1737360"/>
            <a:ext cx="3484778" cy="1554480"/>
          </a:xfrm>
          <a:prstGeom prst="roundRect">
            <a:avLst>
              <a:gd name="adj" fmla="val 5294"/>
            </a:avLst>
          </a:prstGeom>
          <a:solidFill>
            <a:srgbClr val="121B31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03997" y="1901952"/>
            <a:ext cx="34847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🧱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203997" y="2651760"/>
            <a:ext cx="34847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3657600"/>
            <a:ext cx="3484778" cy="1554480"/>
          </a:xfrm>
          <a:prstGeom prst="roundRect">
            <a:avLst>
              <a:gd name="adj" fmla="val 5294"/>
            </a:avLst>
          </a:prstGeom>
          <a:solidFill>
            <a:srgbClr val="121B31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822192"/>
            <a:ext cx="34847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02920" y="4572000"/>
            <a:ext cx="34847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53458" y="3657600"/>
            <a:ext cx="3484778" cy="1554480"/>
          </a:xfrm>
          <a:prstGeom prst="roundRect">
            <a:avLst>
              <a:gd name="adj" fmla="val 5294"/>
            </a:avLst>
          </a:prstGeom>
          <a:solidFill>
            <a:srgbClr val="121B31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53458" y="3822192"/>
            <a:ext cx="34847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⏱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353458" y="4572000"/>
            <a:ext cx="34847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03997" y="3657600"/>
            <a:ext cx="3484778" cy="1554480"/>
          </a:xfrm>
          <a:prstGeom prst="roundRect">
            <a:avLst>
              <a:gd name="adj" fmla="val 5294"/>
            </a:avLst>
          </a:prstGeom>
          <a:solidFill>
            <a:srgbClr val="121B31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03997" y="3822192"/>
            <a:ext cx="348477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8203997" y="4572000"/>
            <a:ext cx="34847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MINI GAME PROJECT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40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GAME PROJECT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Mini Game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318608" cy="3291840"/>
          </a:xfrm>
          <a:prstGeom prst="roundRect">
            <a:avLst>
              <a:gd name="adj" fmla="val 2500"/>
            </a:avLst>
          </a:prstGeom>
          <a:solidFill>
            <a:srgbClr val="121B31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920240"/>
            <a:ext cx="531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377440"/>
            <a:ext cx="440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movement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926080"/>
            <a:ext cx="440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controls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3474720"/>
            <a:ext cx="440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4023360"/>
            <a:ext cx="440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70168" y="1737360"/>
            <a:ext cx="5318608" cy="3291840"/>
          </a:xfrm>
          <a:prstGeom prst="roundRect">
            <a:avLst>
              <a:gd name="adj" fmla="val 2500"/>
            </a:avLst>
          </a:prstGeom>
          <a:solidFill>
            <a:srgbClr val="121B31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70168" y="1920240"/>
            <a:ext cx="531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27368" y="2377440"/>
            <a:ext cx="440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27368" y="2926080"/>
            <a:ext cx="440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27368" y="3474720"/>
            <a:ext cx="440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speed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MINI GAME PROJECT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40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Errors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3484778" cy="1554480"/>
          </a:xfrm>
          <a:prstGeom prst="roundRect">
            <a:avLst>
              <a:gd name="adj" fmla="val 5294"/>
            </a:avLst>
          </a:prstGeom>
          <a:solidFill>
            <a:srgbClr val="121B31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874520"/>
            <a:ext cx="34847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🔴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31190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ERROR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30275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cannot compile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53458" y="1737360"/>
            <a:ext cx="3484778" cy="1554480"/>
          </a:xfrm>
          <a:prstGeom prst="roundRect">
            <a:avLst>
              <a:gd name="adj" fmla="val 5294"/>
            </a:avLst>
          </a:prstGeom>
          <a:solidFill>
            <a:srgbClr val="121B31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53458" y="1874520"/>
            <a:ext cx="34847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🟠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36338" y="2331720"/>
            <a:ext cx="31190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ERROR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82058" y="2697480"/>
            <a:ext cx="30275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crashes while running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03997" y="1737360"/>
            <a:ext cx="3484778" cy="1554480"/>
          </a:xfrm>
          <a:prstGeom prst="roundRect">
            <a:avLst>
              <a:gd name="adj" fmla="val 5294"/>
            </a:avLst>
          </a:prstGeom>
          <a:solidFill>
            <a:srgbClr val="121B31"/>
          </a:solidFill>
          <a:ln w="12700">
            <a:solidFill>
              <a:srgbClr val="F7E463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03997" y="1874520"/>
            <a:ext cx="34847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🟡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86877" y="2331720"/>
            <a:ext cx="31190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E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ERROR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32597" y="2697480"/>
            <a:ext cx="30275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runs but gives the wrong result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794760"/>
            <a:ext cx="2057400" cy="685800"/>
          </a:xfrm>
          <a:prstGeom prst="roundRect">
            <a:avLst>
              <a:gd name="adj" fmla="val 9333"/>
            </a:avLst>
          </a:prstGeom>
          <a:solidFill>
            <a:srgbClr val="17223D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7947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560320" y="4137660"/>
            <a:ext cx="146304" cy="914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706624" y="3794760"/>
            <a:ext cx="2057400" cy="685800"/>
          </a:xfrm>
          <a:prstGeom prst="roundRect">
            <a:avLst>
              <a:gd name="adj" fmla="val 9333"/>
            </a:avLst>
          </a:prstGeom>
          <a:solidFill>
            <a:srgbClr val="17223D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06624" y="37947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MESSAGE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64024" y="4137660"/>
            <a:ext cx="146304" cy="914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910328" y="3794760"/>
            <a:ext cx="2057400" cy="685800"/>
          </a:xfrm>
          <a:prstGeom prst="roundRect">
            <a:avLst>
              <a:gd name="adj" fmla="val 9333"/>
            </a:avLst>
          </a:prstGeom>
          <a:solidFill>
            <a:srgbClr val="17223D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0328" y="37947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LINE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967728" y="4137660"/>
            <a:ext cx="146304" cy="914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114032" y="3794760"/>
            <a:ext cx="2057400" cy="685800"/>
          </a:xfrm>
          <a:prstGeom prst="roundRect">
            <a:avLst>
              <a:gd name="adj" fmla="val 9333"/>
            </a:avLst>
          </a:prstGeom>
          <a:solidFill>
            <a:srgbClr val="17223D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14032" y="37947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171432" y="4137660"/>
            <a:ext cx="146304" cy="914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317736" y="3794760"/>
            <a:ext cx="2057400" cy="685800"/>
          </a:xfrm>
          <a:prstGeom prst="roundRect">
            <a:avLst>
              <a:gd name="adj" fmla="val 9333"/>
            </a:avLst>
          </a:prstGeom>
          <a:solidFill>
            <a:srgbClr val="153A2E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17736" y="37947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AGAIN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DEBUGGING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40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&amp; Fix the Bug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11185855" cy="1371600"/>
          </a:xfrm>
          <a:prstGeom prst="roundRect">
            <a:avLst>
              <a:gd name="adj" fmla="val 6000"/>
            </a:avLst>
          </a:prstGeom>
          <a:solidFill>
            <a:srgbClr val="0D1526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901952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1901952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106424" y="1901952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1828800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— Compile Error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194560"/>
            <a:ext cx="10591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:= StrToInt(Edit1.Text)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492240" y="2212848"/>
            <a:ext cx="320040" cy="320040"/>
          </a:xfrm>
          <a:prstGeom prst="roundRect">
            <a:avLst>
              <a:gd name="adj" fmla="val 17143"/>
            </a:avLst>
          </a:prstGeom>
          <a:ln w="31750">
            <a:solidFill>
              <a:srgbClr val="F871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semicolon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95848" y="3246120"/>
            <a:ext cx="914" cy="45720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2920" y="3886200"/>
            <a:ext cx="11185855" cy="1371600"/>
          </a:xfrm>
          <a:prstGeom prst="roundRect">
            <a:avLst>
              <a:gd name="adj" fmla="val 6000"/>
            </a:avLst>
          </a:prstGeom>
          <a:solidFill>
            <a:srgbClr val="0D1526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4088" y="4050792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6" name="Shape 14"/>
          <p:cNvSpPr/>
          <p:nvPr/>
        </p:nvSpPr>
        <p:spPr>
          <a:xfrm>
            <a:off x="905256" y="4050792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7" name="Shape 15"/>
          <p:cNvSpPr/>
          <p:nvPr/>
        </p:nvSpPr>
        <p:spPr>
          <a:xfrm>
            <a:off x="1106424" y="4050792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8" name="Text 16"/>
          <p:cNvSpPr/>
          <p:nvPr/>
        </p:nvSpPr>
        <p:spPr>
          <a:xfrm>
            <a:off x="1417320" y="3977640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— Fixed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343400"/>
            <a:ext cx="10591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D9E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:= StrToInt(Edit1.Text);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DEBUGGING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40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Cheat Sheet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410048" cy="777240"/>
          </a:xfrm>
          <a:prstGeom prst="roundRect">
            <a:avLst>
              <a:gd name="adj" fmla="val 10588"/>
            </a:avLst>
          </a:prstGeom>
          <a:solidFill>
            <a:srgbClr val="121B31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737360"/>
            <a:ext cx="22722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75140" y="1737360"/>
            <a:ext cx="297552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78728" y="1737360"/>
            <a:ext cx="5410048" cy="777240"/>
          </a:xfrm>
          <a:prstGeom prst="roundRect">
            <a:avLst>
              <a:gd name="adj" fmla="val 10588"/>
            </a:avLst>
          </a:prstGeom>
          <a:solidFill>
            <a:srgbClr val="121B31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1737360"/>
            <a:ext cx="22722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50948" y="1737360"/>
            <a:ext cx="297552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715768"/>
            <a:ext cx="5410048" cy="777240"/>
          </a:xfrm>
          <a:prstGeom prst="roundRect">
            <a:avLst>
              <a:gd name="adj" fmla="val 10588"/>
            </a:avLst>
          </a:prstGeom>
          <a:solidFill>
            <a:srgbClr val="121B31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2715768"/>
            <a:ext cx="22722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75140" y="2715768"/>
            <a:ext cx="297552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'Hello'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78728" y="2715768"/>
            <a:ext cx="5410048" cy="777240"/>
          </a:xfrm>
          <a:prstGeom prst="roundRect">
            <a:avLst>
              <a:gd name="adj" fmla="val 10588"/>
            </a:avLst>
          </a:prstGeom>
          <a:solidFill>
            <a:srgbClr val="121B31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53048" y="2715768"/>
            <a:ext cx="22722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50948" y="2715768"/>
            <a:ext cx="297552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" y="3694176"/>
            <a:ext cx="5410048" cy="777240"/>
          </a:xfrm>
          <a:prstGeom prst="roundRect">
            <a:avLst>
              <a:gd name="adj" fmla="val 10588"/>
            </a:avLst>
          </a:prstGeom>
          <a:solidFill>
            <a:srgbClr val="121B31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3694176"/>
            <a:ext cx="22722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75140" y="3694176"/>
            <a:ext cx="297552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StrToInt / IntToStr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78728" y="3694176"/>
            <a:ext cx="5410048" cy="777240"/>
          </a:xfrm>
          <a:prstGeom prst="roundRect">
            <a:avLst>
              <a:gd name="adj" fmla="val 10588"/>
            </a:avLst>
          </a:prstGeom>
          <a:solidFill>
            <a:srgbClr val="121B31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53048" y="3694176"/>
            <a:ext cx="22722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50948" y="3694176"/>
            <a:ext cx="297552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/ then / else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02920" y="4672584"/>
            <a:ext cx="5410048" cy="777240"/>
          </a:xfrm>
          <a:prstGeom prst="roundRect">
            <a:avLst>
              <a:gd name="adj" fmla="val 10588"/>
            </a:avLst>
          </a:prstGeom>
          <a:solidFill>
            <a:srgbClr val="121B31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4672584"/>
            <a:ext cx="22722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75140" y="4672584"/>
            <a:ext cx="297552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/ while / repeat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REFERENCE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40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CHALLENGE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Small Delphi Application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2590724" cy="594360"/>
          </a:xfrm>
          <a:prstGeom prst="roundRect">
            <a:avLst>
              <a:gd name="adj" fmla="val 12308"/>
            </a:avLst>
          </a:prstGeom>
          <a:solidFill>
            <a:srgbClr val="17223D"/>
          </a:solidFill>
          <a:ln w="16510">
            <a:solidFill>
              <a:srgbClr val="4AD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37360"/>
            <a:ext cx="25907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67964" y="1737360"/>
            <a:ext cx="2590724" cy="594360"/>
          </a:xfrm>
          <a:prstGeom prst="roundRect">
            <a:avLst>
              <a:gd name="adj" fmla="val 12308"/>
            </a:avLst>
          </a:prstGeom>
          <a:solidFill>
            <a:srgbClr val="17223D"/>
          </a:solidFill>
          <a:ln w="1651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7964" y="1737360"/>
            <a:ext cx="25907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3008" y="1737360"/>
            <a:ext cx="2590724" cy="594360"/>
          </a:xfrm>
          <a:prstGeom prst="roundRect">
            <a:avLst>
              <a:gd name="adj" fmla="val 12308"/>
            </a:avLst>
          </a:prstGeom>
          <a:solidFill>
            <a:srgbClr val="17223D"/>
          </a:solidFill>
          <a:ln w="1651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33008" y="1737360"/>
            <a:ext cx="25907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098051" y="1737360"/>
            <a:ext cx="2590724" cy="594360"/>
          </a:xfrm>
          <a:prstGeom prst="roundRect">
            <a:avLst>
              <a:gd name="adj" fmla="val 12308"/>
            </a:avLst>
          </a:prstGeom>
          <a:solidFill>
            <a:srgbClr val="17223D"/>
          </a:solidFill>
          <a:ln w="1651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98051" y="1737360"/>
            <a:ext cx="25907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514600"/>
            <a:ext cx="2590724" cy="594360"/>
          </a:xfrm>
          <a:prstGeom prst="roundRect">
            <a:avLst>
              <a:gd name="adj" fmla="val 12308"/>
            </a:avLst>
          </a:prstGeom>
          <a:solidFill>
            <a:srgbClr val="17223D"/>
          </a:solidFill>
          <a:ln w="1651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14600"/>
            <a:ext cx="25907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367964" y="2514600"/>
            <a:ext cx="2590724" cy="594360"/>
          </a:xfrm>
          <a:prstGeom prst="roundRect">
            <a:avLst>
              <a:gd name="adj" fmla="val 12308"/>
            </a:avLst>
          </a:prstGeom>
          <a:solidFill>
            <a:srgbClr val="17223D"/>
          </a:solidFill>
          <a:ln w="16510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7964" y="2514600"/>
            <a:ext cx="25907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Output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33008" y="2514600"/>
            <a:ext cx="2590724" cy="594360"/>
          </a:xfrm>
          <a:prstGeom prst="roundRect">
            <a:avLst>
              <a:gd name="adj" fmla="val 12308"/>
            </a:avLst>
          </a:prstGeom>
          <a:solidFill>
            <a:srgbClr val="17223D"/>
          </a:solidFill>
          <a:ln w="1651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3008" y="2514600"/>
            <a:ext cx="25907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98051" y="2514600"/>
            <a:ext cx="2590724" cy="594360"/>
          </a:xfrm>
          <a:prstGeom prst="roundRect">
            <a:avLst>
              <a:gd name="adj" fmla="val 12308"/>
            </a:avLst>
          </a:prstGeom>
          <a:solidFill>
            <a:srgbClr val="17223D"/>
          </a:solidFill>
          <a:ln w="16510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051" y="2514600"/>
            <a:ext cx="25907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965960" y="3520440"/>
            <a:ext cx="8259775" cy="2606040"/>
          </a:xfrm>
          <a:prstGeom prst="roundRect">
            <a:avLst>
              <a:gd name="adj" fmla="val 2456"/>
            </a:avLst>
          </a:prstGeom>
          <a:solidFill>
            <a:srgbClr val="0D1526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965960" y="3520440"/>
            <a:ext cx="8259775" cy="347472"/>
          </a:xfrm>
          <a:prstGeom prst="roundRect">
            <a:avLst>
              <a:gd name="adj" fmla="val 18421"/>
            </a:avLst>
          </a:prstGeom>
          <a:solidFill>
            <a:srgbClr val="17223D"/>
          </a:solidFill>
          <a:ln/>
        </p:spPr>
      </p:sp>
      <p:sp>
        <p:nvSpPr>
          <p:cNvPr id="23" name="Shape 21"/>
          <p:cNvSpPr/>
          <p:nvPr/>
        </p:nvSpPr>
        <p:spPr>
          <a:xfrm>
            <a:off x="1965960" y="3694176"/>
            <a:ext cx="8259775" cy="173736"/>
          </a:xfrm>
          <a:prstGeom prst="rect">
            <a:avLst/>
          </a:prstGeom>
          <a:solidFill>
            <a:srgbClr val="17223D"/>
          </a:solidFill>
          <a:ln/>
        </p:spPr>
      </p:sp>
      <p:sp>
        <p:nvSpPr>
          <p:cNvPr id="24" name="Shape 22"/>
          <p:cNvSpPr/>
          <p:nvPr/>
        </p:nvSpPr>
        <p:spPr>
          <a:xfrm>
            <a:off x="2130552" y="3639312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5" name="Shape 23"/>
          <p:cNvSpPr/>
          <p:nvPr/>
        </p:nvSpPr>
        <p:spPr>
          <a:xfrm>
            <a:off x="2313432" y="3639312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6" name="Shape 24"/>
          <p:cNvSpPr/>
          <p:nvPr/>
        </p:nvSpPr>
        <p:spPr>
          <a:xfrm>
            <a:off x="2496312" y="3639312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7" name="Text 25"/>
          <p:cNvSpPr/>
          <p:nvPr/>
        </p:nvSpPr>
        <p:spPr>
          <a:xfrm>
            <a:off x="2788920" y="3557016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FinalApp.pas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965960" y="3867912"/>
            <a:ext cx="8259775" cy="2258568"/>
          </a:xfrm>
          <a:prstGeom prst="rect">
            <a:avLst/>
          </a:prstGeom>
          <a:solidFill>
            <a:srgbClr val="E9EDF4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40965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value: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566160" y="4059936"/>
            <a:ext cx="21945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8C99A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0" y="4599432"/>
            <a:ext cx="1463040" cy="402336"/>
          </a:xfrm>
          <a:prstGeom prst="roundRect">
            <a:avLst>
              <a:gd name="adj" fmla="val 11364"/>
            </a:avLst>
          </a:prstGeom>
          <a:solidFill>
            <a:srgbClr val="E4E9F1"/>
          </a:solidFill>
          <a:ln w="12700">
            <a:solidFill>
              <a:srgbClr val="8C99A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0" y="459943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86200" y="4663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—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286000" y="5148072"/>
            <a:ext cx="3200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9A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77440" y="5239512"/>
            <a:ext cx="2743200" cy="45720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36" name="Shape 34"/>
          <p:cNvSpPr/>
          <p:nvPr/>
        </p:nvSpPr>
        <p:spPr>
          <a:xfrm>
            <a:off x="2377440" y="5385816"/>
            <a:ext cx="2377440" cy="45720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37" name="Shape 35"/>
          <p:cNvSpPr/>
          <p:nvPr/>
        </p:nvSpPr>
        <p:spPr>
          <a:xfrm>
            <a:off x="2377440" y="5532120"/>
            <a:ext cx="2011680" cy="45720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FINAL CHALLENGE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40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Now Do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515258" cy="566928"/>
          </a:xfrm>
          <a:prstGeom prst="roundRect">
            <a:avLst>
              <a:gd name="adj" fmla="val 12903"/>
            </a:avLst>
          </a:prstGeom>
          <a:solidFill>
            <a:srgbClr val="121B31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31494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Forms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8218" y="1783080"/>
            <a:ext cx="3515258" cy="566928"/>
          </a:xfrm>
          <a:prstGeom prst="roundRect">
            <a:avLst>
              <a:gd name="adj" fmla="val 12903"/>
            </a:avLst>
          </a:prstGeom>
          <a:solidFill>
            <a:srgbClr val="121B31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1098" y="1783080"/>
            <a:ext cx="31494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VCL Components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73517" y="1783080"/>
            <a:ext cx="3515258" cy="566928"/>
          </a:xfrm>
          <a:prstGeom prst="roundRect">
            <a:avLst>
              <a:gd name="adj" fmla="val 12903"/>
            </a:avLst>
          </a:prstGeom>
          <a:solidFill>
            <a:srgbClr val="121B31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56397" y="1783080"/>
            <a:ext cx="31494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Properties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551176"/>
            <a:ext cx="3515258" cy="566928"/>
          </a:xfrm>
          <a:prstGeom prst="roundRect">
            <a:avLst>
              <a:gd name="adj" fmla="val 12903"/>
            </a:avLst>
          </a:prstGeom>
          <a:solidFill>
            <a:srgbClr val="121B31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551176"/>
            <a:ext cx="31494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Events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38218" y="2551176"/>
            <a:ext cx="3515258" cy="566928"/>
          </a:xfrm>
          <a:prstGeom prst="roundRect">
            <a:avLst>
              <a:gd name="adj" fmla="val 12903"/>
            </a:avLst>
          </a:prstGeom>
          <a:solidFill>
            <a:srgbClr val="121B31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1098" y="2551176"/>
            <a:ext cx="31494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Variables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73517" y="2551176"/>
            <a:ext cx="3515258" cy="566928"/>
          </a:xfrm>
          <a:prstGeom prst="roundRect">
            <a:avLst>
              <a:gd name="adj" fmla="val 12903"/>
            </a:avLst>
          </a:prstGeom>
          <a:solidFill>
            <a:srgbClr val="121B31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6397" y="2551176"/>
            <a:ext cx="31494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User Input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319272"/>
            <a:ext cx="3515258" cy="566928"/>
          </a:xfrm>
          <a:prstGeom prst="roundRect">
            <a:avLst>
              <a:gd name="adj" fmla="val 12903"/>
            </a:avLst>
          </a:prstGeom>
          <a:solidFill>
            <a:srgbClr val="121B31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319272"/>
            <a:ext cx="31494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Calculations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38218" y="3319272"/>
            <a:ext cx="3515258" cy="566928"/>
          </a:xfrm>
          <a:prstGeom prst="roundRect">
            <a:avLst>
              <a:gd name="adj" fmla="val 12903"/>
            </a:avLst>
          </a:prstGeom>
          <a:solidFill>
            <a:srgbClr val="121B31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1098" y="3319272"/>
            <a:ext cx="31494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Conditions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73517" y="3319272"/>
            <a:ext cx="3515258" cy="566928"/>
          </a:xfrm>
          <a:prstGeom prst="roundRect">
            <a:avLst>
              <a:gd name="adj" fmla="val 12903"/>
            </a:avLst>
          </a:prstGeom>
          <a:solidFill>
            <a:srgbClr val="121B31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56397" y="3319272"/>
            <a:ext cx="31494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Loops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4087368"/>
            <a:ext cx="3515258" cy="566928"/>
          </a:xfrm>
          <a:prstGeom prst="roundRect">
            <a:avLst>
              <a:gd name="adj" fmla="val 12903"/>
            </a:avLst>
          </a:prstGeom>
          <a:solidFill>
            <a:srgbClr val="121B31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087368"/>
            <a:ext cx="31494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Procedures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38218" y="4087368"/>
            <a:ext cx="3515258" cy="566928"/>
          </a:xfrm>
          <a:prstGeom prst="roundRect">
            <a:avLst>
              <a:gd name="adj" fmla="val 12903"/>
            </a:avLst>
          </a:prstGeom>
          <a:solidFill>
            <a:srgbClr val="121B31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1098" y="4087368"/>
            <a:ext cx="31494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Functions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73517" y="4087368"/>
            <a:ext cx="3515258" cy="566928"/>
          </a:xfrm>
          <a:prstGeom prst="roundRect">
            <a:avLst>
              <a:gd name="adj" fmla="val 12903"/>
            </a:avLst>
          </a:prstGeom>
          <a:solidFill>
            <a:srgbClr val="121B31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56397" y="4087368"/>
            <a:ext cx="31494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Programs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RECAP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40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-914400"/>
            <a:ext cx="2926080" cy="2926080"/>
          </a:xfrm>
          <a:prstGeom prst="rect">
            <a:avLst/>
          </a:prstGeom>
          <a:solidFill>
            <a:srgbClr val="0F203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111858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BUILD WITH DELPHI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901595" cy="3566160"/>
          </a:xfrm>
          <a:prstGeom prst="roundRect">
            <a:avLst>
              <a:gd name="adj" fmla="val 3366"/>
            </a:avLst>
          </a:prstGeom>
          <a:solidFill>
            <a:srgbClr val="0D1526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12648" y="1691640"/>
            <a:ext cx="16821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PALETTE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12648" y="1984248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65960"/>
            <a:ext cx="142610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TButton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" y="2295144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276856"/>
            <a:ext cx="142610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TLabel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" y="2606040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587752"/>
            <a:ext cx="142610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TEdit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" y="2916936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898648"/>
            <a:ext cx="142610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TMemo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" y="3227832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209544"/>
            <a:ext cx="142610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TPanel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41675" y="1600200"/>
            <a:ext cx="6325335" cy="3566160"/>
          </a:xfrm>
          <a:prstGeom prst="roundRect">
            <a:avLst>
              <a:gd name="adj" fmla="val 1795"/>
            </a:avLst>
          </a:prstGeom>
          <a:solidFill>
            <a:srgbClr val="0D1526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41675" y="1600200"/>
            <a:ext cx="6325335" cy="347472"/>
          </a:xfrm>
          <a:prstGeom prst="roundRect">
            <a:avLst>
              <a:gd name="adj" fmla="val 18421"/>
            </a:avLst>
          </a:prstGeom>
          <a:solidFill>
            <a:srgbClr val="17223D"/>
          </a:solidFill>
          <a:ln/>
        </p:spPr>
      </p:sp>
      <p:sp>
        <p:nvSpPr>
          <p:cNvPr id="18" name="Shape 16"/>
          <p:cNvSpPr/>
          <p:nvPr/>
        </p:nvSpPr>
        <p:spPr>
          <a:xfrm>
            <a:off x="2541675" y="1773936"/>
            <a:ext cx="6325335" cy="173736"/>
          </a:xfrm>
          <a:prstGeom prst="rect">
            <a:avLst/>
          </a:prstGeom>
          <a:solidFill>
            <a:srgbClr val="17223D"/>
          </a:solidFill>
          <a:ln/>
        </p:spPr>
      </p:sp>
      <p:sp>
        <p:nvSpPr>
          <p:cNvPr id="19" name="Shape 17"/>
          <p:cNvSpPr/>
          <p:nvPr/>
        </p:nvSpPr>
        <p:spPr>
          <a:xfrm>
            <a:off x="2706267" y="1719072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0" name="Shape 18"/>
          <p:cNvSpPr/>
          <p:nvPr/>
        </p:nvSpPr>
        <p:spPr>
          <a:xfrm>
            <a:off x="2889147" y="1719072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1" name="Shape 19"/>
          <p:cNvSpPr/>
          <p:nvPr/>
        </p:nvSpPr>
        <p:spPr>
          <a:xfrm>
            <a:off x="3072027" y="1719072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2" name="Text 20"/>
          <p:cNvSpPr/>
          <p:nvPr/>
        </p:nvSpPr>
        <p:spPr>
          <a:xfrm>
            <a:off x="3364635" y="1636776"/>
            <a:ext cx="5319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FinalApp.pas — Delphi IDE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41675" y="1947672"/>
            <a:ext cx="6325335" cy="3218688"/>
          </a:xfrm>
          <a:prstGeom prst="rect">
            <a:avLst/>
          </a:prstGeom>
          <a:solidFill>
            <a:srgbClr val="E9EDF4"/>
          </a:solidFill>
          <a:ln/>
        </p:spPr>
      </p:sp>
      <p:sp>
        <p:nvSpPr>
          <p:cNvPr id="24" name="Text 22"/>
          <p:cNvSpPr/>
          <p:nvPr/>
        </p:nvSpPr>
        <p:spPr>
          <a:xfrm>
            <a:off x="2815995" y="22037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04715" y="22037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815995" y="2724912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E4E9F1"/>
          </a:solidFill>
          <a:ln w="12700">
            <a:solidFill>
              <a:srgbClr val="8C99A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15995" y="27249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Move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61915" y="2724912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E4E9F1"/>
          </a:solidFill>
          <a:ln w="12700">
            <a:solidFill>
              <a:srgbClr val="8C99A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61915" y="27249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815995" y="3319272"/>
            <a:ext cx="3200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9A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07435" y="3410712"/>
            <a:ext cx="2743200" cy="45720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32" name="Shape 30"/>
          <p:cNvSpPr/>
          <p:nvPr/>
        </p:nvSpPr>
        <p:spPr>
          <a:xfrm>
            <a:off x="2907435" y="3557016"/>
            <a:ext cx="2377440" cy="45720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33" name="Shape 31"/>
          <p:cNvSpPr/>
          <p:nvPr/>
        </p:nvSpPr>
        <p:spPr>
          <a:xfrm>
            <a:off x="2907435" y="3703320"/>
            <a:ext cx="2011680" cy="45720"/>
          </a:xfrm>
          <a:prstGeom prst="rect">
            <a:avLst/>
          </a:prstGeom>
          <a:solidFill>
            <a:srgbClr val="D7DEE8"/>
          </a:solidFill>
          <a:ln/>
        </p:spPr>
      </p:sp>
      <p:sp>
        <p:nvSpPr>
          <p:cNvPr id="34" name="Shape 32"/>
          <p:cNvSpPr/>
          <p:nvPr/>
        </p:nvSpPr>
        <p:spPr>
          <a:xfrm>
            <a:off x="9141330" y="1600200"/>
            <a:ext cx="2684605" cy="3566160"/>
          </a:xfrm>
          <a:prstGeom prst="roundRect">
            <a:avLst>
              <a:gd name="adj" fmla="val 2384"/>
            </a:avLst>
          </a:prstGeom>
          <a:solidFill>
            <a:srgbClr val="0D1526"/>
          </a:solidFill>
          <a:ln w="12700">
            <a:solidFill>
              <a:srgbClr val="26325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251058" y="1691640"/>
            <a:ext cx="246514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INSPECTOR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251058" y="2002536"/>
            <a:ext cx="11339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385027" y="2002536"/>
            <a:ext cx="13311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Button1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251058" y="2267712"/>
            <a:ext cx="11339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385027" y="2267712"/>
            <a:ext cx="13311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Say Hello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251058" y="2532888"/>
            <a:ext cx="11339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0385027" y="2532888"/>
            <a:ext cx="13311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251058" y="2798064"/>
            <a:ext cx="11339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0385027" y="2798064"/>
            <a:ext cx="13311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251058" y="3063240"/>
            <a:ext cx="11339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385027" y="3063240"/>
            <a:ext cx="13311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251058" y="3328416"/>
            <a:ext cx="11339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385027" y="3328416"/>
            <a:ext cx="13311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9251058" y="3593592"/>
            <a:ext cx="11339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Visible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0385027" y="3593592"/>
            <a:ext cx="13311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9251058" y="3858768"/>
            <a:ext cx="11339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Enabled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0385027" y="3858768"/>
            <a:ext cx="13311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078328" y="5349240"/>
            <a:ext cx="6035040" cy="502920"/>
          </a:xfrm>
          <a:prstGeom prst="roundRect">
            <a:avLst>
              <a:gd name="adj" fmla="val 50000"/>
            </a:avLst>
          </a:prstGeom>
          <a:solidFill>
            <a:srgbClr val="17223D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78328" y="534924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 →  BUILD  →  BREAK  →  FIX  →  IMPROVE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502920" y="598932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application is only the beginning.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DELPHI PROGRAMMING WORKSHOP   ·   RECAP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40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2026-08-14T05:16:35Z</dcterms:created>
  <dcterms:modified xsi:type="dcterms:W3CDTF">2026-08-14T05:16:35Z</dcterms:modified>
</cp:coreProperties>
</file>