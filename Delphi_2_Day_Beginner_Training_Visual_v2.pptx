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Welcome students. Tell them this is a hands-on course. The aim is not to memorize Delphi syntax; it is to understand how interface, events and code connect.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'What you will be able to do'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'The Delphi mental model'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'What is Delphi?'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'Object Pascal in one minute'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'The Delphi IDE'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'Project → Unit → Form → EXE'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'VCL: building with components'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'Properties vs Events'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'Properties you will use today'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'Events you will use today'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'First program: Hello Delphi'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'Read the event handler'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'Assignment: :='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'Strings and user input'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'Variables = named storage'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'Basic data types'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'Text ↔ Number conversion'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'Operators'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'Mini Calculator'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'Boolean thinking'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'if / then / else'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'Multiple outcomes'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'DAY 1 PROJECT: Student Result'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'DAY 2: From code to programming'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'Why loops?'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'for loop'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'while / repeat...until'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'Strings in practice'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'Procedures'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'Functions'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'Objects, classes and methods'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'Move a component with code'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'Mini Ball Game'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'Ball Game: build in 6 steps'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'Debugging: read the error'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'Common beginner mistakes'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'Good coding habits'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'FINAL CHALLENGE'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'What you should know after 2 days'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'Where to go next'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Explain the slide 'Final message' for about 3–5 minutes. Ask one prediction question and then demonstrate the idea in Delphi. For code-related slides, open the IDE and type the example live rather than reading it from the slide.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Type this example live in Delphi. Pause after each line and ask students what they expect to see before running it.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Type this example live in Delphi. Pause after each line and ask students what they expect to see before running it.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Type this example live in Delphi. Pause after each line and ask students what they expect to see before running it.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Type this example live in Delphi. Pause after each line and ask students what they expect to see before running it.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Type this example live in Delphi. Pause after each line and ask students what they expect to see before running it.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prompt:</a:t>
            </a:r>
          </a:p>
          <a:p>
            <a:r>
              <a:t>This is your teaching rhythm. Avoid talking continuously for 30 minutes. Alternate explanation and hands-on work.</a:t>
            </a:r>
          </a:p>
          <a:p/>
          <a:p>
            <a:r>
              <a:t>Suggested rhythm: explain the visual → demonstrate in Delphi → ask students to predict → let them change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FF6FF"/>
                </a:solidFill>
                <a:latin typeface="Aptos"/>
              </a:defRPr>
            </a:pPr>
            <a:r>
              <a:t>DELPHI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965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45D3FF"/>
                </a:solidFill>
                <a:latin typeface="Aptos"/>
              </a:defRPr>
            </a:pPr>
            <a:r>
              <a:t>From first button click to your first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5B4C9"/>
                </a:solidFill>
                <a:latin typeface="Aptos"/>
              </a:defRPr>
            </a:pPr>
            <a:r>
              <a:t>2-Day Beginner Workshop • VCL + Object Pascal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069080"/>
            <a:ext cx="2011680" cy="73152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70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78FFF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069080"/>
            <a:ext cx="2011680" cy="73152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39" y="4270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73FF"/>
                </a:solidFill>
                <a:latin typeface="Aptos"/>
              </a:defRPr>
            </a:pPr>
            <a:r>
              <a:t>VCL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79" y="4069080"/>
            <a:ext cx="2011680" cy="73152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59" y="4270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5D3FF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069080"/>
            <a:ext cx="2011680" cy="73152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270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DDC97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5B4C9"/>
                </a:solidFill>
                <a:latin typeface="Aptos"/>
              </a:defRPr>
            </a:pPr>
            <a:r>
              <a:t>Learn it • change it • break it • fix it • build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What you will be able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The end goal is a working mental model—not memorized commands.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IDE • Project • Unit • 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VCL components + properties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Pascal variables + logic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 small interactive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The Delphi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Use this picture throughout the course.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Design the 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Choose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React to 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Run your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What is Delphi?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Delphi combines a visual development environment with Object Pascal.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Where you design, code, compile and debug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OBJECT PASCAL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The programming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VCL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Ready-made Windows UI components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 native desktop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Object Pascal in one minute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Pascal emphasizes readable, structured code; Delphi adds modern object-oriented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Stores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PROCEDURE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Performs an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Returns a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Defines an object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The Delphi 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Four areas students should recognize immediately.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① FORM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Build the screen visually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② OBJECT INSPECTOR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Properties +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③ TOOL PALETTE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Choose components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④ CODE EDITOR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Write Pascal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Project → Unit → Form → 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The files have different jobs.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PROJECT .DPR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Application entry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UNIT .PAS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Source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FORM .DFM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Visual form description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EXE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Compiled application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VCL: building with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Instead of drawing everything yourself, use reusable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TButton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TLabel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TEdit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TMemo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Multi-line 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07791"/>
            <a:ext cx="73152" cy="1143000"/>
          </a:xfrm>
          <a:prstGeom prst="rect">
            <a:avLst/>
          </a:prstGeom>
          <a:solidFill>
            <a:srgbClr val="FA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5C"/>
                </a:solidFill>
                <a:latin typeface="Aptos"/>
              </a:defRPr>
            </a:pPr>
            <a:r>
              <a:t>TPanel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Container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2907791"/>
            <a:ext cx="73152" cy="1143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ptos"/>
              </a:defRPr>
            </a:pPr>
            <a:r>
              <a:t>TShape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Simple graphics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Properties vs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One of the most important beginner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PROPERTY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What the component IS / looks like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What the component DOES when something happens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Properties you will use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Change these in the Object Inspector and then try the same changes in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Caption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Visible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Code identifier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Width / Height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Left / 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Position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07791"/>
            <a:ext cx="73152" cy="1143000"/>
          </a:xfrm>
          <a:prstGeom prst="rect">
            <a:avLst/>
          </a:prstGeom>
          <a:solidFill>
            <a:srgbClr val="FA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5C"/>
                </a:solidFill>
                <a:latin typeface="Aptos"/>
              </a:defRPr>
            </a:pPr>
            <a:r>
              <a:t>Visible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Show / hide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2907791"/>
            <a:ext cx="73152" cy="1143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ptos"/>
              </a:defRPr>
            </a:pPr>
            <a:r>
              <a:t>Enabled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Allow / block interaction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Events you will use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Events connect user actions to your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OnClick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Button clicked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OnChange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Text changed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OnCreate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Form created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OnKeyPress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Keyboard input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First program: Hello Delphi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The first win should happen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Drop Button + Label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Double-click Button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Change Label1.Caption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Run → click → observe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Read the event handler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Don't memorize the whole line. Learn what each part means.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procedure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Defines a procedure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TForm1.Button1Click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This form's button-click handler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Sender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Object that triggered the event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begin /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The block of instructions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Assignment: :=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Think: 'take the value on the right and put it into the thing on the left.'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Label1.Caption := 'Hello';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Age := 20;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PROPERTY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Ball.Top := 100;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The left side receives the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Strings and user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The UI is mostly text. Learn to move text between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Edit1.Text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COMBINE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'Hello ' +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Label1.Caption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MULTI-LINE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Memo1.Lines.Add(...)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Variables = named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Variables let the program remember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 readable identifier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What kind of value it can 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The current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LIFETIME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Where/when it exists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Basic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Use the type that matches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Integer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10, 25, 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Double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10.5, 3.14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String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'Delphi'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Boolean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True / False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07791"/>
            <a:ext cx="73152" cy="1143000"/>
          </a:xfrm>
          <a:prstGeom prst="rect">
            <a:avLst/>
          </a:prstGeom>
          <a:solidFill>
            <a:srgbClr val="FA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5C"/>
                </a:solidFill>
                <a:latin typeface="Aptos"/>
              </a:defRPr>
            </a:pPr>
            <a:r>
              <a:t>Char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'A'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Text ↔ Number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This is a common beginner stumbling block.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USER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Edit1.Text is STRING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Need INTEGER / DOUBLE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CONVERT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StrToInt(Edit1.Text)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IntToStr(result)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Make students predict the result before running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Addition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Subtraction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Multiplication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Division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07791"/>
            <a:ext cx="73152" cy="1143000"/>
          </a:xfrm>
          <a:prstGeom prst="rect">
            <a:avLst/>
          </a:prstGeom>
          <a:solidFill>
            <a:srgbClr val="FA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5C"/>
                </a:solidFill>
                <a:latin typeface="Aptos"/>
              </a:defRPr>
            </a:pPr>
            <a:r>
              <a:t>div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Integer division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2907791"/>
            <a:ext cx="73152" cy="1143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ptos"/>
              </a:defRPr>
            </a:pPr>
            <a:r>
              <a:t>mod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Remainder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Mini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A 15-minute exercise that combines the first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Two TEdit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Button OnClick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Read → convert → calculate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Show result in Label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Boolean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Programs make decisions by asking questions that are True or False.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marks &gt;=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EQUAL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name = 'Ajeet'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NOT EQUAL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x &lt;&gt; 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and • or • not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if / then /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Teach the English first, then the Pascal.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Is marks &gt;= 40?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Show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Show FAIL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if condition then ... else 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Multiple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Real applications often have more than two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90+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Excellent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75+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Very Good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40+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&lt;40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DAY 1 PROJECT: Student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Students combine UI + variables + conversion + calculation +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Name + 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Grade / Pass-Fail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Clear result screen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Add Reset button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DAY 2: From code to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Today we move from one action to reusable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Loops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REUSE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Procedures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Mini application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Why loops?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When the same operation must happen many times, repetition belongs in a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Write the same line 20 times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Repeat a block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BENEFIT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Less code + fewer mistakes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When should repetition stop?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for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Best when you know the number/range of repetitions.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i :=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i :=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Instruction repeated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Display 1 to 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while / repeat...until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Two ways to repeat based on a condition.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WHILE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Check first, then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Run first, then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Validation / unknown number of repetitions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WARNING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Always make sure the loop can finish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Strings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Strings make the UI feel responsive.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'Hello ' +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Length(name)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UPPER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UpperCase(name)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LOWER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LowerCase(name)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A procedure packages an action so you can call it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Reduce repeated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One clear responsibility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SayHello;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Cleaner event handlers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A function packages logic and returns a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Calculation /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Call it wherever needed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Objects, classes and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This is the bridge to real Delphi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Blueprint /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 created instance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PROPERTY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State /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07791"/>
            <a:ext cx="73152" cy="1143000"/>
          </a:xfrm>
          <a:prstGeom prst="rect">
            <a:avLst/>
          </a:prstGeom>
          <a:solidFill>
            <a:srgbClr val="FA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5C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Connection to user/application activity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Move a component with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Connect programming logic to something students can see.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Ball.Top := Ball.Top - 10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Ball.Top := Ball.Top + 10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Ball.Left := Ball.Left - 10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Ball.Left := Ball.Left + 10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Mini Ball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A visual project makes the concepts stick.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TShape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The ball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TPanel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The game area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TButton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TLabel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Score / status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Ball Game: build in 6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Build one working feature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Create game area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Place ball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Move vertically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Move horizontally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07791"/>
            <a:ext cx="73152" cy="1143000"/>
          </a:xfrm>
          <a:prstGeom prst="rect">
            <a:avLst/>
          </a:prstGeom>
          <a:solidFill>
            <a:srgbClr val="FA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5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Add boundaries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2907791"/>
            <a:ext cx="73152" cy="1143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Add score/reset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Debugging: read the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An error message is information—not a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COMPILER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Code cannot be compiled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RUNTIME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Program fails while running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LOGIC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Program runs but gives wrong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FIRST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Read the message + line number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Common beginner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These are worth showing live in Delphi.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SYNTAX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Missing ; or 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String used as Integer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NAMES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Wrong component 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Code in wrong handler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07791"/>
            <a:ext cx="73152" cy="1143000"/>
          </a:xfrm>
          <a:prstGeom prst="rect">
            <a:avLst/>
          </a:prstGeom>
          <a:solidFill>
            <a:srgbClr val="FA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5C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Project saved with a wrong name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Good coding 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Professional habits start on day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NAME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BtnCalculate, EdtMarks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SMALL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Compile/test often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READ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Don't guess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07791"/>
            <a:ext cx="52578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39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KEEP IT CLEAR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4670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Short focused procedures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FINAL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Students build a small application with minimal instructor help.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Input +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Variables + calculation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if/else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One procedure or function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07791"/>
            <a:ext cx="73152" cy="1143000"/>
          </a:xfrm>
          <a:prstGeom prst="rect">
            <a:avLst/>
          </a:prstGeom>
          <a:solidFill>
            <a:srgbClr val="FA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5C"/>
                </a:solidFill>
                <a:latin typeface="Aptos"/>
              </a:defRPr>
            </a:pPr>
            <a:r>
              <a:t>BONUS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Reset / validation / score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What you should know after 2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If students can explain these, the course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Where the pieces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VCL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How UI components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How actions trigger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PASCAL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Variables + logic + loops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07791"/>
            <a:ext cx="73152" cy="1143000"/>
          </a:xfrm>
          <a:prstGeom prst="rect">
            <a:avLst/>
          </a:prstGeom>
          <a:solidFill>
            <a:srgbClr val="FA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5C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How to turn an idea into an app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Where to go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Delphi becomes much more powerful after the basics.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Classes + inheritance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Arrays + lists +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DATABASES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SQL + data-aware apps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REST + JSON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07791"/>
            <a:ext cx="73152" cy="1143000"/>
          </a:xfrm>
          <a:prstGeom prst="rect">
            <a:avLst/>
          </a:prstGeom>
          <a:solidFill>
            <a:srgbClr val="FA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5C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Build real applications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Final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Programming is learned by experimenting with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8FFF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What will happen?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Test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4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DC97"/>
                </a:solidFill>
                <a:latin typeface="Aptos"/>
              </a:defRPr>
            </a:pPr>
            <a: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562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Modify one thing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1"/>
            <a:ext cx="73152" cy="1143000"/>
          </a:xfrm>
          <a:prstGeom prst="rect">
            <a:avLst/>
          </a:prstGeom>
          <a:solidFill>
            <a:srgbClr val="A8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3FF"/>
                </a:solidFill>
                <a:latin typeface="Aptos"/>
              </a:defRPr>
            </a:pPr>
            <a:r>
              <a:t>BREAK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Understand the 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07791"/>
            <a:ext cx="3429000" cy="11430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07791"/>
            <a:ext cx="73152" cy="1143000"/>
          </a:xfrm>
          <a:prstGeom prst="rect">
            <a:avLst/>
          </a:prstGeom>
          <a:solidFill>
            <a:srgbClr val="FA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63239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5C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46703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Aptos"/>
              </a:defRPr>
            </a:pPr>
            <a:r>
              <a:t>Create something of your own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Code demo: Button +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Your first event-driven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583680" cy="4480560"/>
          </a:xfrm>
          <a:prstGeom prst="roundRect">
            <a:avLst/>
          </a:prstGeom>
          <a:solidFill>
            <a:srgbClr val="070C16"/>
          </a:solidFill>
          <a:ln>
            <a:solidFill>
              <a:srgbClr val="30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5D3FF"/>
                </a:solidFill>
                <a:latin typeface="Aptos"/>
              </a:defRPr>
            </a:pPr>
            <a:r>
              <a:t>Object Pascal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Consolas"/>
              </a:defRPr>
            </a:pPr>
            <a:r>
              <a:t>procedure TForm1.Button1Click(Sender: TObject);</a:t>
            </a:r>
            <a:br/>
            <a:r>
              <a:t>begin</a:t>
            </a:r>
            <a:br/>
            <a:r>
              <a:t>  Label1.Caption := 'Hello Delphi!';</a:t>
            </a:r>
            <a:br/>
            <a:r>
              <a:t>end;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17320"/>
            <a:ext cx="3886200" cy="448056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5D3FF"/>
                </a:solidFill>
                <a:latin typeface="Aptos"/>
              </a:defRPr>
            </a:pPr>
            <a:r>
              <a:t>TALK 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4028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The button creates the event.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Caption is a property.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:= assigns a new value.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The code runs only when the event occurs.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Code demo: Input → Calculate →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The pattern behind many beginner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583680" cy="4480560"/>
          </a:xfrm>
          <a:prstGeom prst="roundRect">
            <a:avLst/>
          </a:prstGeom>
          <a:solidFill>
            <a:srgbClr val="070C16"/>
          </a:solidFill>
          <a:ln>
            <a:solidFill>
              <a:srgbClr val="30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5D3FF"/>
                </a:solidFill>
                <a:latin typeface="Aptos"/>
              </a:defRPr>
            </a:pPr>
            <a:r>
              <a:t>Object Pascal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Consolas"/>
              </a:defRPr>
            </a:pPr>
            <a:r>
              <a:t>var</a:t>
            </a:r>
            <a:br/>
            <a:r>
              <a:t>  a, b, result: Integer;</a:t>
            </a:r>
            <a:br/>
            <a:r>
              <a:t>begin</a:t>
            </a:r>
            <a:br/>
            <a:r>
              <a:t>  a := StrToInt(Edit1.Text);</a:t>
            </a:r>
            <a:br/>
            <a:r>
              <a:t>  b := StrToInt(Edit2.Text);</a:t>
            </a:r>
            <a:br/>
            <a:r>
              <a:t>  result := a + b;</a:t>
            </a:r>
            <a:br/>
            <a:r>
              <a:t>  Label1.Caption := IntToStr(result);</a:t>
            </a:r>
            <a:br/>
            <a:r>
              <a:t>end;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17320"/>
            <a:ext cx="3886200" cy="448056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5D3FF"/>
                </a:solidFill>
                <a:latin typeface="Aptos"/>
              </a:defRPr>
            </a:pPr>
            <a:r>
              <a:t>TALK 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4028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Edit controls provide text.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StrToInt converts text to a number.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The calculation uses Integer values.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IntToStr converts the answer back to display text.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Code demo: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Teach the logic in plain English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583680" cy="4480560"/>
          </a:xfrm>
          <a:prstGeom prst="roundRect">
            <a:avLst/>
          </a:prstGeom>
          <a:solidFill>
            <a:srgbClr val="070C16"/>
          </a:solidFill>
          <a:ln>
            <a:solidFill>
              <a:srgbClr val="30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5D3FF"/>
                </a:solidFill>
                <a:latin typeface="Aptos"/>
              </a:defRPr>
            </a:pPr>
            <a:r>
              <a:t>Object Pascal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Consolas"/>
              </a:defRPr>
            </a:pPr>
            <a:r>
              <a:t>var</a:t>
            </a:r>
            <a:br/>
            <a:r>
              <a:t>  marks: Integer;</a:t>
            </a:r>
            <a:br/>
            <a:r>
              <a:t>begin</a:t>
            </a:r>
            <a:br/>
            <a:r>
              <a:t>  marks := StrToInt(Edit1.Text);</a:t>
            </a:r>
            <a:br/>
            <a:br/>
            <a:r>
              <a:t>  if marks &gt;= 40 then</a:t>
            </a:r>
            <a:br/>
            <a:r>
              <a:t>    Label1.Caption := 'PASS'</a:t>
            </a:r>
            <a:br/>
            <a:r>
              <a:t>  else</a:t>
            </a:r>
            <a:br/>
            <a:r>
              <a:t>    Label1.Caption := 'FAIL';</a:t>
            </a:r>
            <a:br/>
            <a:r>
              <a:t>end;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17320"/>
            <a:ext cx="3886200" cy="448056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5D3FF"/>
                </a:solidFill>
                <a:latin typeface="Aptos"/>
              </a:defRPr>
            </a:pPr>
            <a:r>
              <a:t>TALK 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4028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First read the input.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Ask a True/False question.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Run one branch if True.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Run the other branch if False.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Code demo: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Make repetition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583680" cy="4480560"/>
          </a:xfrm>
          <a:prstGeom prst="roundRect">
            <a:avLst/>
          </a:prstGeom>
          <a:solidFill>
            <a:srgbClr val="070C16"/>
          </a:solidFill>
          <a:ln>
            <a:solidFill>
              <a:srgbClr val="30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5D3FF"/>
                </a:solidFill>
                <a:latin typeface="Aptos"/>
              </a:defRPr>
            </a:pPr>
            <a:r>
              <a:t>Object Pascal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Consolas"/>
              </a:defRPr>
            </a:pPr>
            <a:r>
              <a:t>var</a:t>
            </a:r>
            <a:br/>
            <a:r>
              <a:t>  i: Integer;</a:t>
            </a:r>
            <a:br/>
            <a:r>
              <a:t>begin</a:t>
            </a:r>
            <a:br/>
            <a:r>
              <a:t>  for i := 1 to 10 do</a:t>
            </a:r>
            <a:br/>
            <a:r>
              <a:t>    Memo1.Lines.Add(IntToStr(i));</a:t>
            </a:r>
            <a:br/>
            <a:r>
              <a:t>end;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17320"/>
            <a:ext cx="3886200" cy="448056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5D3FF"/>
                </a:solidFill>
                <a:latin typeface="Aptos"/>
              </a:defRPr>
            </a:pPr>
            <a:r>
              <a:t>TALK 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4028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i starts at 1.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The loop continues through 10.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The body runs once per value.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Memo displays each result on a new line.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Code demo: Ball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Turn code into visible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583680" cy="4480560"/>
          </a:xfrm>
          <a:prstGeom prst="roundRect">
            <a:avLst/>
          </a:prstGeom>
          <a:solidFill>
            <a:srgbClr val="070C16"/>
          </a:solidFill>
          <a:ln>
            <a:solidFill>
              <a:srgbClr val="30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5D3FF"/>
                </a:solidFill>
                <a:latin typeface="Aptos"/>
              </a:defRPr>
            </a:pPr>
            <a:r>
              <a:t>Object Pascal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F6FF"/>
                </a:solidFill>
                <a:latin typeface="Consolas"/>
              </a:defRPr>
            </a:pPr>
            <a:r>
              <a:t>procedure TForm1.Button1Click(Sender: TObject);</a:t>
            </a:r>
            <a:br/>
            <a:r>
              <a:t>begin</a:t>
            </a:r>
            <a:br/>
            <a:r>
              <a:t>  Ball.Top := Ball.Top - 10;</a:t>
            </a:r>
            <a:br/>
            <a:r>
              <a:t>end;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17320"/>
            <a:ext cx="3886200" cy="448056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5D3FF"/>
                </a:solidFill>
                <a:latin typeface="Aptos"/>
              </a:defRPr>
            </a:pPr>
            <a:r>
              <a:t>TALK 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4028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Top controls vertical position.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Subtracting moves upward.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Try +10 and observe the difference.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t>• Ask students to create Left/Right movement themselves.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FF6FF"/>
                </a:solidFill>
                <a:latin typeface="Aptos"/>
              </a:defRPr>
            </a:pPr>
            <a:r>
              <a:t>Instructor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C9"/>
                </a:solidFill>
                <a:latin typeface="Aptos"/>
              </a:defRPr>
            </a:pPr>
            <a:r>
              <a:t>Use this rhythm for almost every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9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337560" cy="16002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7335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5D3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73351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F6FF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48839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4C9"/>
                </a:solidFill>
                <a:latin typeface="Aptos"/>
              </a:defRPr>
            </a:pPr>
            <a:r>
              <a:t>What problem does this solve?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37560" cy="16002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5D3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673351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F6FF"/>
                </a:solidFill>
                <a:latin typeface="Aptos"/>
              </a:defRPr>
            </a:pPr>
            <a:r>
              <a:t>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48839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4C9"/>
                </a:solidFill>
                <a:latin typeface="Aptos"/>
              </a:defRPr>
            </a:pPr>
            <a:r>
              <a:t>Demonstrate in Delphi.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08760"/>
            <a:ext cx="3337560" cy="16002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7335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5D3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673351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F6FF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148839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4C9"/>
                </a:solidFill>
                <a:latin typeface="Aptos"/>
              </a:defRPr>
            </a:pPr>
            <a:r>
              <a:t>Ask: what will happen?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66160"/>
            <a:ext cx="3337560" cy="16002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7307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5D3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730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F6FF"/>
                </a:solidFill>
                <a:latin typeface="Aptos"/>
              </a:defRPr>
            </a:pPr>
            <a:r>
              <a:t>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20624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4C9"/>
                </a:solidFill>
                <a:latin typeface="Aptos"/>
              </a:defRPr>
            </a:pPr>
            <a:r>
              <a:t>Students reproduce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66160"/>
            <a:ext cx="3337560" cy="16002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7307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5D3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730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F6FF"/>
                </a:solidFill>
                <a:latin typeface="Aptos"/>
              </a:defRPr>
            </a:pPr>
            <a:r>
              <a:t>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20624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4C9"/>
                </a:solidFill>
                <a:latin typeface="Aptos"/>
              </a:defRPr>
            </a:pPr>
            <a:r>
              <a:t>Students modify one thing.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566160"/>
            <a:ext cx="3337560" cy="1600200"/>
          </a:xfrm>
          <a:prstGeom prst="round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37307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5D3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730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F6FF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20624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4C9"/>
                </a:solidFill>
                <a:latin typeface="Aptos"/>
              </a:defRPr>
            </a:pPr>
            <a:r>
              <a:t>Give a small problem without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